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confused_devs. In the Battle Arena, 51 teams each sent an autonomous agent into one live candidate market. Nobody could touch the agent once the arena opened. Our agent finished at the top of the live leaderboard with a score of 1,827.3. In the next few minutes we will show how it worked: the architecture, the flow, the numbers, and the mistakes we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 pool of one million candidates, shared by 51 teams. Each person can be signed by only one team. Every API call costs credits, and the final score is points minus credits times 0.05. So every decision is a trade-off: pay for information, or save credits. There are also fake profiles in the pool, and a fake signing earns nothing. The first hour is recon, when nobody can sign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We filled all 116 slots in the first seconds of the market with zero rejected offers. We earned 2,494 points, the most of any team. We used 13,334 credits, a penalty of 666.7, so the score is 1,827.3. On the live board we were first, about 336 points ahead of number two. Some teams spent fewer credits, but they got far fewer points, because our signings were all verified and high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three layers. At the bottom is the Arena API on the organisers' server. In the middle is the HTTP client: the organisers' arena_client, wrapped by our ThrottledArena, which spaces calls to 8.5 per second so we never hit the rate limit. On top is the agent brain: agent.py runs the phase loop and decides what to buy and sign; normalize.py cleans messy fields; scoring.py checks the bar and computes quality; learning.py learns from our paid verifications; and state.json saves everything so a restart never pays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First the agent waits for the arena to open, using the free ledger call. In recon it sweeps searches, batch-buys profiles, scores the recruiter notes, and verifies its top picks. Then it builds a ranked plan for every requisition, with backups. The moment the market opens, it fires all 116 offers best-first in parallel. After that it holds, and fills a slot only if one opens and it is worth the credits. In the closing hour offers cost double, so the same rule becomes stricter. Everything follows one rule: buy only if the expected points are more than the credit cost times the penalty.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funnel is the whole story in numbers. From one million candidates we looked at 120,000 cheap summaries, bought 4,640 full profiles, and 2,463 of those passed the requisition bar. We verified 176 with the paid assessment and signed 116. Each step is more expensive than the one before, so we only go deeper where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day went. We checked the real data format with a few manual calls, then started the agent at 11:19 after fixing an SSL certificate problem on the Mac. Recon finished at 11:24. The market opened late, at 11:42, and the agent signed all 116 in seconds. At 11:49 the server briefly reported closed during a pause, and our agent treated that as the end and exited. Our signings were safe on the server. We fixed the rule so the agent exits only after the real closing phase, and restarted it at 12:01 from saved state without buying anything again. The arena closed at 17:01 with our score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did the credits go? About half on full profiles, a third on verified assessments, and the rest on searches and offers. With a penalty of 0.05, a profile costs us only 0.06 points and an assessment 1.25 points, but one signing earned about 21.5 points. So information was cheap compared to a signing, and a wrong signing was expensive. That is why we invested in recon and verification. After 11:42, when all slots were full, we spent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was deliberately messy. Skills came with different separators and spellings, experience in months or years, salary in rupees or lakhs, and assessments as percentages, fractions or blanks. normalize.py turns all of these into clean numbers and sets. An important detail: an empty assessment is treated as unknown, never as zero, so we don't wrongly reject or accept anyone. We also checked the real field names first, which caught the salary field our first draft had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biggest edge. Look at the chart: genuine candidates claim about 98.6 and verify at 93.7, so they inflate by about 5 points. The 11 fakes claim 95 on average but verify at only about 40. So a high self-score alone means nothing. Interestingly, the fakes claimed 85 to 99, never exactly 100, and all 103 perfect scores were genuine. Because of this we verified every single one of our 116 signings, and none of them was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choose? First, hard gates: the candidate must clear the requisition bar, and must not have failed verification. Then we compute a quality score, and its weights follow the organisers' own note on what points depend on: skill match, assessment margin, salary headroom, the recruiter note, and notice period. Two small learning components help: a regression that learns how much self-reported scores are inflated, and a note scorer that uses the LLM just twice to score all 100 distinct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 stack is deliberately small. Only the Python standard library, no third-party packages, so there is nothing to install or break. We used the organisers' client unmodified and wrapped it with our own throttle. The only AI inside the agent is the arena's own LLM endpoint, used twice for notes. The agent ran on our laptop with nohup and caffeinate. We tested everything first on our own mock arena. We used Claude Code as a coding assistant and declared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cases were ten percent of the judging, so we designed for them. We throttle ourselves below the rate limit. State is saved after every step, so the two restarts we had cost nothing. Network and server errors are retried, and one failed batch never stops the others. Wrong-phase errors make the agent re-read the phase, and after our fix, a temporary closed status no longer ends the run. Rejected offers fall through to backups. If credits ever ran out, the agent would stop spending and just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what didn't work. Our regression was fitted on all verified pairs, including the fakes, which distorted the slope. On genuine candidates only, the fit is much more sensible. It didn't hurt us, because every signing was verified directly. We also had the closed-phase glitch, which we fixed. With two more hours we would fit the model only on genuine data, add upgrade swaps, and use the market feed to focus on contested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learn the market cheaply, verify only what matters, and sign first. That gave us 116 of 116 signings, 2,494 points and a score of 1,827.3. Thank you, and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2.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4.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F"/>
        </a:solidFill>
      </p:bgPr>
    </p:bg>
    <p:spTree>
      <p:nvGrpSpPr>
        <p:cNvPr id="1" name=""/>
        <p:cNvGrpSpPr/>
        <p:nvPr/>
      </p:nvGrpSpPr>
      <p:grpSpPr>
        <a:xfrm>
          <a:off x="0" y="0"/>
          <a:ext cx="0" cy="0"/>
          <a:chOff x="0" y="0"/>
          <a:chExt cx="0" cy="0"/>
        </a:xfrm>
      </p:grpSpPr>
      <p:pic>
        <p:nvPicPr>
          <p:cNvPr id="2" name="Image 0" descr="/private/tmp/claude-501/-Users-rimshachaudhary/39e555b3-5a08-4f48-ba14-96d27de05f30/scratchpad/deck/hero.png">    </p:cNvPr>
          <p:cNvPicPr>
            <a:picLocks noChangeAspect="1"/>
          </p:cNvPicPr>
          <p:nvPr/>
        </p:nvPicPr>
        <p:blipFill>
          <a:blip r:embed="rId1"/>
          <a:stretch>
            <a:fillRect/>
          </a:stretch>
        </p:blipFill>
        <p:spPr>
          <a:xfrm>
            <a:off x="5669280" y="502920"/>
            <a:ext cx="6400800" cy="4974336"/>
          </a:xfrm>
          <a:prstGeom prst="rect">
            <a:avLst/>
          </a:prstGeom>
        </p:spPr>
      </p:pic>
      <p:sp>
        <p:nvSpPr>
          <p:cNvPr id="3" name="Text 0"/>
          <p:cNvSpPr txBox="1"/>
          <p:nvPr/>
        </p:nvSpPr>
        <p:spPr>
          <a:xfrm>
            <a:off x="640080" y="731520"/>
            <a:ext cx="6400800" cy="274320"/>
          </a:xfrm>
          <a:prstGeom prst="rect">
            <a:avLst/>
          </a:prstGeom>
          <a:noFill/>
          <a:ln/>
        </p:spPr>
        <p:txBody>
          <a:bodyPr wrap="square" lIns="0" tIns="0" rIns="0" bIns="0" rtlCol="0" anchor="ctr"/>
          <a:lstStyle/>
          <a:p>
            <a:pPr indent="0" marL="0">
              <a:buNone/>
            </a:pPr>
            <a:r>
              <a:rPr lang="en-US" sz="1200" b="1" spc="300" kern="0" dirty="0">
                <a:solidFill>
                  <a:srgbClr val="9A9486"/>
                </a:solidFill>
                <a:latin typeface="Arial" pitchFamily="34" charset="0"/>
                <a:ea typeface="Arial" pitchFamily="34" charset="-122"/>
                <a:cs typeface="Arial" pitchFamily="34" charset="-120"/>
              </a:rPr>
              <a:t>INNOV8 4.0  ·  EIGHTFOLD.AI × ARIES, IIT DELHI</a:t>
            </a:r>
            <a:endParaRPr lang="en-US" sz="1200" dirty="0"/>
          </a:p>
        </p:txBody>
      </p:sp>
      <p:sp>
        <p:nvSpPr>
          <p:cNvPr id="4" name="Text 1"/>
          <p:cNvSpPr txBox="1"/>
          <p:nvPr/>
        </p:nvSpPr>
        <p:spPr>
          <a:xfrm>
            <a:off x="640080" y="1371600"/>
            <a:ext cx="5943600" cy="914400"/>
          </a:xfrm>
          <a:prstGeom prst="rect">
            <a:avLst/>
          </a:prstGeom>
          <a:noFill/>
          <a:ln/>
        </p:spPr>
        <p:txBody>
          <a:bodyPr wrap="square" lIns="0" tIns="0" rIns="0" bIns="0" rtlCol="0" anchor="ctr"/>
          <a:lstStyle/>
          <a:p>
            <a:pPr indent="0" marL="0">
              <a:buNone/>
            </a:pPr>
            <a:r>
              <a:rPr lang="en-US" sz="6000" b="1" dirty="0">
                <a:solidFill>
                  <a:srgbClr val="F2EFE6"/>
                </a:solidFill>
                <a:latin typeface="Arial" pitchFamily="34" charset="0"/>
                <a:ea typeface="Arial" pitchFamily="34" charset="-122"/>
                <a:cs typeface="Arial" pitchFamily="34" charset="-120"/>
              </a:rPr>
              <a:t>THE BATTLE</a:t>
            </a:r>
            <a:endParaRPr lang="en-US" sz="6000" dirty="0"/>
          </a:p>
        </p:txBody>
      </p:sp>
      <p:sp>
        <p:nvSpPr>
          <p:cNvPr id="5" name="Text 2"/>
          <p:cNvSpPr txBox="1"/>
          <p:nvPr/>
        </p:nvSpPr>
        <p:spPr>
          <a:xfrm>
            <a:off x="640080" y="2240280"/>
            <a:ext cx="5943600" cy="914400"/>
          </a:xfrm>
          <a:prstGeom prst="rect">
            <a:avLst/>
          </a:prstGeom>
          <a:noFill/>
          <a:ln/>
        </p:spPr>
        <p:txBody>
          <a:bodyPr wrap="square" lIns="0" tIns="0" rIns="0" bIns="0" rtlCol="0" anchor="ctr"/>
          <a:lstStyle/>
          <a:p>
            <a:pPr indent="0" marL="0">
              <a:buNone/>
            </a:pPr>
            <a:r>
              <a:rPr lang="en-US" sz="6000" b="1" dirty="0">
                <a:solidFill>
                  <a:srgbClr val="E0303A"/>
                </a:solidFill>
                <a:latin typeface="Arial" pitchFamily="34" charset="0"/>
                <a:ea typeface="Arial" pitchFamily="34" charset="-122"/>
                <a:cs typeface="Arial" pitchFamily="34" charset="-120"/>
              </a:rPr>
              <a:t>ARENA.</a:t>
            </a:r>
            <a:endParaRPr lang="en-US" sz="6000" dirty="0"/>
          </a:p>
        </p:txBody>
      </p:sp>
      <p:sp>
        <p:nvSpPr>
          <p:cNvPr id="6" name="Text 3"/>
          <p:cNvSpPr txBox="1"/>
          <p:nvPr/>
        </p:nvSpPr>
        <p:spPr>
          <a:xfrm>
            <a:off x="640080" y="3337560"/>
            <a:ext cx="5120640" cy="822960"/>
          </a:xfrm>
          <a:prstGeom prst="rect">
            <a:avLst/>
          </a:prstGeom>
          <a:noFill/>
          <a:ln/>
        </p:spPr>
        <p:txBody>
          <a:bodyPr wrap="square" lIns="0" tIns="0" rIns="0" bIns="0" rtlCol="0" anchor="ctr"/>
          <a:lstStyle/>
          <a:p>
            <a:pPr indent="0" marL="0">
              <a:buNone/>
            </a:pPr>
            <a:r>
              <a:rPr lang="en-US" sz="1800" i="1" dirty="0">
                <a:solidFill>
                  <a:srgbClr val="F2EFE6"/>
                </a:solidFill>
                <a:latin typeface="Calibri" pitchFamily="34" charset="0"/>
                <a:ea typeface="Calibri" pitchFamily="34" charset="-122"/>
                <a:cs typeface="Calibri" pitchFamily="34" charset="-120"/>
              </a:rPr>
              <a:t>An autonomous hiring agent that learned the market, caught the fakes, and signed first.</a:t>
            </a:r>
            <a:endParaRPr lang="en-US" sz="1800" dirty="0"/>
          </a:p>
        </p:txBody>
      </p:sp>
      <p:sp>
        <p:nvSpPr>
          <p:cNvPr id="7" name="Text 4"/>
          <p:cNvSpPr txBox="1"/>
          <p:nvPr/>
        </p:nvSpPr>
        <p:spPr>
          <a:xfrm>
            <a:off x="640080" y="4754880"/>
            <a:ext cx="5486400" cy="731520"/>
          </a:xfrm>
          <a:prstGeom prst="rect">
            <a:avLst/>
          </a:prstGeom>
          <a:noFill/>
          <a:ln/>
        </p:spPr>
        <p:txBody>
          <a:bodyPr wrap="square" lIns="0" tIns="0" rIns="0" bIns="0" rtlCol="0" anchor="ctr"/>
          <a:lstStyle/>
          <a:p>
            <a:pPr indent="0" marL="0">
              <a:buNone/>
            </a:pPr>
            <a:r>
              <a:rPr lang="en-US" sz="1500" b="1" dirty="0">
                <a:solidFill>
                  <a:srgbClr val="F2EFE6"/>
                </a:solidFill>
                <a:latin typeface="Calibri" pitchFamily="34" charset="0"/>
                <a:ea typeface="Calibri" pitchFamily="34" charset="-122"/>
                <a:cs typeface="Calibri" pitchFamily="34" charset="-120"/>
              </a:rPr>
              <a:t>Team confused_devs</a:t>
            </a:r>
            <a:endParaRPr lang="en-US" sz="1500" dirty="0"/>
          </a:p>
          <a:p>
            <a:pPr indent="0" marL="0">
              <a:buNone/>
            </a:pPr>
            <a:r>
              <a:rPr lang="en-US" sz="1500" dirty="0">
                <a:solidFill>
                  <a:srgbClr val="9A9486"/>
                </a:solidFill>
                <a:latin typeface="Calibri" pitchFamily="34" charset="0"/>
                <a:ea typeface="Calibri" pitchFamily="34" charset="-122"/>
                <a:cs typeface="Calibri" pitchFamily="34" charset="-120"/>
              </a:rPr>
              <a:t>Daksh Chugh  ·  Adityam Vashist  ·  Himanshu Rawat</a:t>
            </a:r>
            <a:endParaRPr lang="en-US" sz="1500" dirty="0"/>
          </a:p>
        </p:txBody>
      </p:sp>
      <p:sp>
        <p:nvSpPr>
          <p:cNvPr id="8" name="Shape 5"/>
          <p:cNvSpPr/>
          <p:nvPr/>
        </p:nvSpPr>
        <p:spPr>
          <a:xfrm>
            <a:off x="7406640" y="5532120"/>
            <a:ext cx="4114800" cy="777240"/>
          </a:xfrm>
          <a:prstGeom prst="roundRect">
            <a:avLst>
              <a:gd name="adj" fmla="val 14118"/>
            </a:avLst>
          </a:prstGeom>
          <a:solidFill>
            <a:srgbClr val="E0303A"/>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9" name="Text 6"/>
          <p:cNvSpPr txBox="1"/>
          <p:nvPr/>
        </p:nvSpPr>
        <p:spPr>
          <a:xfrm>
            <a:off x="7589520" y="5532120"/>
            <a:ext cx="3840480" cy="7772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#1  </a:t>
            </a:r>
            <a:pPr indent="0" marL="0">
              <a:buNone/>
            </a:pPr>
            <a:r>
              <a:rPr lang="en-US" sz="1500" dirty="0">
                <a:solidFill>
                  <a:srgbClr val="FFFFFF"/>
                </a:solidFill>
                <a:latin typeface="Arial" pitchFamily="34" charset="0"/>
                <a:ea typeface="Arial" pitchFamily="34" charset="-122"/>
                <a:cs typeface="Arial" pitchFamily="34" charset="-120"/>
              </a:rPr>
              <a:t>score 1,827.3 on the live board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THE PROBLEM</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One market. 51 agents. Every name signed only once.</a:t>
            </a:r>
            <a:endParaRPr lang="en-US" sz="3400" dirty="0"/>
          </a:p>
        </p:txBody>
      </p:sp>
      <p:sp>
        <p:nvSpPr>
          <p:cNvPr id="4" name="Shape 2"/>
          <p:cNvSpPr/>
          <p:nvPr/>
        </p:nvSpPr>
        <p:spPr>
          <a:xfrm>
            <a:off x="548640" y="1691640"/>
            <a:ext cx="2606040" cy="1417320"/>
          </a:xfrm>
          <a:prstGeom prst="roundRect">
            <a:avLst>
              <a:gd name="adj" fmla="val 7742"/>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5" name="Text 3"/>
          <p:cNvSpPr txBox="1"/>
          <p:nvPr/>
        </p:nvSpPr>
        <p:spPr>
          <a:xfrm>
            <a:off x="777240" y="1856232"/>
            <a:ext cx="2148840" cy="731520"/>
          </a:xfrm>
          <a:prstGeom prst="rect">
            <a:avLst/>
          </a:prstGeom>
          <a:noFill/>
          <a:ln/>
        </p:spPr>
        <p:txBody>
          <a:bodyPr wrap="square" lIns="0" tIns="0" rIns="0" bIns="0" rtlCol="0" anchor="ctr"/>
          <a:lstStyle/>
          <a:p>
            <a:pPr indent="0" marL="0">
              <a:buNone/>
            </a:pPr>
            <a:r>
              <a:rPr lang="en-US" sz="3800" b="1" dirty="0">
                <a:solidFill>
                  <a:srgbClr val="E0303A"/>
                </a:solidFill>
                <a:latin typeface="Arial" pitchFamily="34" charset="0"/>
                <a:ea typeface="Arial" pitchFamily="34" charset="-122"/>
                <a:cs typeface="Arial" pitchFamily="34" charset="-120"/>
              </a:rPr>
              <a:t>1,000,000</a:t>
            </a:r>
            <a:endParaRPr lang="en-US" sz="3800" dirty="0"/>
          </a:p>
        </p:txBody>
      </p:sp>
      <p:sp>
        <p:nvSpPr>
          <p:cNvPr id="6" name="Text 4"/>
          <p:cNvSpPr txBox="1"/>
          <p:nvPr/>
        </p:nvSpPr>
        <p:spPr>
          <a:xfrm>
            <a:off x="777240" y="2587752"/>
            <a:ext cx="2148840" cy="365760"/>
          </a:xfrm>
          <a:prstGeom prst="rect">
            <a:avLst/>
          </a:prstGeom>
          <a:noFill/>
          <a:ln/>
        </p:spPr>
        <p:txBody>
          <a:bodyPr wrap="square" lIns="0" tIns="0" rIns="0" bIns="0" rtlCol="0" anchor="ctr"/>
          <a:lstStyle/>
          <a:p>
            <a:pPr indent="0" marL="0">
              <a:buNone/>
            </a:pPr>
            <a:r>
              <a:rPr lang="en-US" sz="1400" dirty="0">
                <a:solidFill>
                  <a:srgbClr val="9A9486"/>
                </a:solidFill>
                <a:latin typeface="Calibri" pitchFamily="34" charset="0"/>
                <a:ea typeface="Calibri" pitchFamily="34" charset="-122"/>
                <a:cs typeface="Calibri" pitchFamily="34" charset="-120"/>
              </a:rPr>
              <a:t>candidate profiles, shared by all teams</a:t>
            </a:r>
            <a:endParaRPr lang="en-US" sz="1400" dirty="0"/>
          </a:p>
        </p:txBody>
      </p:sp>
      <p:sp>
        <p:nvSpPr>
          <p:cNvPr id="7" name="Shape 5"/>
          <p:cNvSpPr/>
          <p:nvPr/>
        </p:nvSpPr>
        <p:spPr>
          <a:xfrm>
            <a:off x="3364992" y="1691640"/>
            <a:ext cx="2606040" cy="1417320"/>
          </a:xfrm>
          <a:prstGeom prst="roundRect">
            <a:avLst>
              <a:gd name="adj" fmla="val 7742"/>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8" name="Text 6"/>
          <p:cNvSpPr txBox="1"/>
          <p:nvPr/>
        </p:nvSpPr>
        <p:spPr>
          <a:xfrm>
            <a:off x="3593592" y="1856232"/>
            <a:ext cx="2148840" cy="731520"/>
          </a:xfrm>
          <a:prstGeom prst="rect">
            <a:avLst/>
          </a:prstGeom>
          <a:noFill/>
          <a:ln/>
        </p:spPr>
        <p:txBody>
          <a:bodyPr wrap="square" lIns="0" tIns="0" rIns="0" bIns="0" rtlCol="0" anchor="ctr"/>
          <a:lstStyle/>
          <a:p>
            <a:pPr indent="0" marL="0">
              <a:buNone/>
            </a:pPr>
            <a:r>
              <a:rPr lang="en-US" sz="3800" b="1" dirty="0">
                <a:solidFill>
                  <a:srgbClr val="F2EFE6"/>
                </a:solidFill>
                <a:latin typeface="Arial" pitchFamily="34" charset="0"/>
                <a:ea typeface="Arial" pitchFamily="34" charset="-122"/>
                <a:cs typeface="Arial" pitchFamily="34" charset="-120"/>
              </a:rPr>
              <a:t>51</a:t>
            </a:r>
            <a:endParaRPr lang="en-US" sz="3800" dirty="0"/>
          </a:p>
        </p:txBody>
      </p:sp>
      <p:sp>
        <p:nvSpPr>
          <p:cNvPr id="9" name="Text 7"/>
          <p:cNvSpPr txBox="1"/>
          <p:nvPr/>
        </p:nvSpPr>
        <p:spPr>
          <a:xfrm>
            <a:off x="3593592" y="2587752"/>
            <a:ext cx="2148840" cy="365760"/>
          </a:xfrm>
          <a:prstGeom prst="rect">
            <a:avLst/>
          </a:prstGeom>
          <a:noFill/>
          <a:ln/>
        </p:spPr>
        <p:txBody>
          <a:bodyPr wrap="square" lIns="0" tIns="0" rIns="0" bIns="0" rtlCol="0" anchor="ctr"/>
          <a:lstStyle/>
          <a:p>
            <a:pPr indent="0" marL="0">
              <a:buNone/>
            </a:pPr>
            <a:r>
              <a:rPr lang="en-US" sz="1400" dirty="0">
                <a:solidFill>
                  <a:srgbClr val="9A9486"/>
                </a:solidFill>
                <a:latin typeface="Calibri" pitchFamily="34" charset="0"/>
                <a:ea typeface="Calibri" pitchFamily="34" charset="-122"/>
                <a:cs typeface="Calibri" pitchFamily="34" charset="-120"/>
              </a:rPr>
              <a:t>autonomous agents competing live</a:t>
            </a:r>
            <a:endParaRPr lang="en-US" sz="1400" dirty="0"/>
          </a:p>
        </p:txBody>
      </p:sp>
      <p:sp>
        <p:nvSpPr>
          <p:cNvPr id="10" name="Shape 8"/>
          <p:cNvSpPr/>
          <p:nvPr/>
        </p:nvSpPr>
        <p:spPr>
          <a:xfrm>
            <a:off x="6181344" y="1691640"/>
            <a:ext cx="2606040" cy="1417320"/>
          </a:xfrm>
          <a:prstGeom prst="roundRect">
            <a:avLst>
              <a:gd name="adj" fmla="val 7742"/>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1" name="Text 9"/>
          <p:cNvSpPr txBox="1"/>
          <p:nvPr/>
        </p:nvSpPr>
        <p:spPr>
          <a:xfrm>
            <a:off x="6409944" y="1856232"/>
            <a:ext cx="2148840" cy="731520"/>
          </a:xfrm>
          <a:prstGeom prst="rect">
            <a:avLst/>
          </a:prstGeom>
          <a:noFill/>
          <a:ln/>
        </p:spPr>
        <p:txBody>
          <a:bodyPr wrap="square" lIns="0" tIns="0" rIns="0" bIns="0" rtlCol="0" anchor="ctr"/>
          <a:lstStyle/>
          <a:p>
            <a:pPr indent="0" marL="0">
              <a:buNone/>
            </a:pPr>
            <a:r>
              <a:rPr lang="en-US" sz="3800" b="1" dirty="0">
                <a:solidFill>
                  <a:srgbClr val="F2EFE6"/>
                </a:solidFill>
                <a:latin typeface="Arial" pitchFamily="34" charset="0"/>
                <a:ea typeface="Arial" pitchFamily="34" charset="-122"/>
                <a:cs typeface="Arial" pitchFamily="34" charset="-120"/>
              </a:rPr>
              <a:t>50,000</a:t>
            </a:r>
            <a:endParaRPr lang="en-US" sz="3800" dirty="0"/>
          </a:p>
        </p:txBody>
      </p:sp>
      <p:sp>
        <p:nvSpPr>
          <p:cNvPr id="12" name="Text 10"/>
          <p:cNvSpPr txBox="1"/>
          <p:nvPr/>
        </p:nvSpPr>
        <p:spPr>
          <a:xfrm>
            <a:off x="6409944" y="2587752"/>
            <a:ext cx="2148840" cy="365760"/>
          </a:xfrm>
          <a:prstGeom prst="rect">
            <a:avLst/>
          </a:prstGeom>
          <a:noFill/>
          <a:ln/>
        </p:spPr>
        <p:txBody>
          <a:bodyPr wrap="square" lIns="0" tIns="0" rIns="0" bIns="0" rtlCol="0" anchor="ctr"/>
          <a:lstStyle/>
          <a:p>
            <a:pPr indent="0" marL="0">
              <a:buNone/>
            </a:pPr>
            <a:r>
              <a:rPr lang="en-US" sz="1400" dirty="0">
                <a:solidFill>
                  <a:srgbClr val="9A9486"/>
                </a:solidFill>
                <a:latin typeface="Calibri" pitchFamily="34" charset="0"/>
                <a:ea typeface="Calibri" pitchFamily="34" charset="-122"/>
                <a:cs typeface="Calibri" pitchFamily="34" charset="-120"/>
              </a:rPr>
              <a:t>credits per team; every call costs</a:t>
            </a:r>
            <a:endParaRPr lang="en-US" sz="1400" dirty="0"/>
          </a:p>
        </p:txBody>
      </p:sp>
      <p:sp>
        <p:nvSpPr>
          <p:cNvPr id="13" name="Shape 11"/>
          <p:cNvSpPr/>
          <p:nvPr/>
        </p:nvSpPr>
        <p:spPr>
          <a:xfrm>
            <a:off x="8997696" y="1691640"/>
            <a:ext cx="2606040" cy="1417320"/>
          </a:xfrm>
          <a:prstGeom prst="roundRect">
            <a:avLst>
              <a:gd name="adj" fmla="val 7742"/>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4" name="Text 12"/>
          <p:cNvSpPr txBox="1"/>
          <p:nvPr/>
        </p:nvSpPr>
        <p:spPr>
          <a:xfrm>
            <a:off x="9226296" y="1856232"/>
            <a:ext cx="2148840" cy="731520"/>
          </a:xfrm>
          <a:prstGeom prst="rect">
            <a:avLst/>
          </a:prstGeom>
          <a:noFill/>
          <a:ln/>
        </p:spPr>
        <p:txBody>
          <a:bodyPr wrap="square" lIns="0" tIns="0" rIns="0" bIns="0" rtlCol="0" anchor="ctr"/>
          <a:lstStyle/>
          <a:p>
            <a:pPr indent="0" marL="0">
              <a:buNone/>
            </a:pPr>
            <a:r>
              <a:rPr lang="en-US" sz="3800" b="1" dirty="0">
                <a:solidFill>
                  <a:srgbClr val="F2EFE6"/>
                </a:solidFill>
                <a:latin typeface="Arial" pitchFamily="34" charset="0"/>
                <a:ea typeface="Arial" pitchFamily="34" charset="-122"/>
                <a:cs typeface="Arial" pitchFamily="34" charset="-120"/>
              </a:rPr>
              <a:t>116</a:t>
            </a:r>
            <a:endParaRPr lang="en-US" sz="3800" dirty="0"/>
          </a:p>
        </p:txBody>
      </p:sp>
      <p:sp>
        <p:nvSpPr>
          <p:cNvPr id="15" name="Text 13"/>
          <p:cNvSpPr txBox="1"/>
          <p:nvPr/>
        </p:nvSpPr>
        <p:spPr>
          <a:xfrm>
            <a:off x="9226296" y="2587752"/>
            <a:ext cx="2148840" cy="365760"/>
          </a:xfrm>
          <a:prstGeom prst="rect">
            <a:avLst/>
          </a:prstGeom>
          <a:noFill/>
          <a:ln/>
        </p:spPr>
        <p:txBody>
          <a:bodyPr wrap="square" lIns="0" tIns="0" rIns="0" bIns="0" rtlCol="0" anchor="ctr"/>
          <a:lstStyle/>
          <a:p>
            <a:pPr indent="0" marL="0">
              <a:buNone/>
            </a:pPr>
            <a:r>
              <a:rPr lang="en-US" sz="1400" dirty="0">
                <a:solidFill>
                  <a:srgbClr val="9A9486"/>
                </a:solidFill>
                <a:latin typeface="Calibri" pitchFamily="34" charset="0"/>
                <a:ea typeface="Calibri" pitchFamily="34" charset="-122"/>
                <a:cs typeface="Calibri" pitchFamily="34" charset="-120"/>
              </a:rPr>
              <a:t>slots across 10 requisitions</a:t>
            </a:r>
            <a:endParaRPr lang="en-US" sz="1400" dirty="0"/>
          </a:p>
        </p:txBody>
      </p:sp>
      <p:sp>
        <p:nvSpPr>
          <p:cNvPr id="16" name="Shape 14"/>
          <p:cNvSpPr/>
          <p:nvPr/>
        </p:nvSpPr>
        <p:spPr>
          <a:xfrm>
            <a:off x="548640" y="3429000"/>
            <a:ext cx="11064240" cy="1234440"/>
          </a:xfrm>
          <a:prstGeom prst="roundRect">
            <a:avLst>
              <a:gd name="adj" fmla="val 8889"/>
            </a:avLst>
          </a:prstGeom>
          <a:solidFill>
            <a:srgbClr val="23232B"/>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7" name="Text 15"/>
          <p:cNvSpPr txBox="1"/>
          <p:nvPr/>
        </p:nvSpPr>
        <p:spPr>
          <a:xfrm>
            <a:off x="822960" y="3429000"/>
            <a:ext cx="10515600" cy="1234440"/>
          </a:xfrm>
          <a:prstGeom prst="rect">
            <a:avLst/>
          </a:prstGeom>
          <a:noFill/>
          <a:ln/>
        </p:spPr>
        <p:txBody>
          <a:bodyPr wrap="square" lIns="0" tIns="0" rIns="0" bIns="0" rtlCol="0" anchor="ctr"/>
          <a:lstStyle/>
          <a:p>
            <a:pPr indent="0" marL="0">
              <a:buNone/>
            </a:pPr>
            <a:r>
              <a:rPr lang="en-US" sz="2800" b="1" dirty="0">
                <a:solidFill>
                  <a:srgbClr val="9A9486"/>
                </a:solidFill>
                <a:latin typeface="Arial" pitchFamily="34" charset="0"/>
                <a:ea typeface="Arial" pitchFamily="34" charset="-122"/>
                <a:cs typeface="Arial" pitchFamily="34" charset="-120"/>
              </a:rPr>
              <a:t>SCORE  =  </a:t>
            </a:r>
            <a:pPr indent="0" marL="0">
              <a:buNone/>
            </a:pPr>
            <a:r>
              <a:rPr lang="en-US" sz="2800" b="1" dirty="0">
                <a:solidFill>
                  <a:srgbClr val="F2EFE6"/>
                </a:solidFill>
                <a:latin typeface="Arial" pitchFamily="34" charset="0"/>
                <a:ea typeface="Arial" pitchFamily="34" charset="-122"/>
                <a:cs typeface="Arial" pitchFamily="34" charset="-120"/>
              </a:rPr>
              <a:t>points of people you hold</a:t>
            </a:r>
            <a:pPr indent="0" marL="0">
              <a:buNone/>
            </a:pPr>
            <a:r>
              <a:rPr lang="en-US" sz="2800" b="1" dirty="0">
                <a:solidFill>
                  <a:srgbClr val="E0303A"/>
                </a:solidFill>
                <a:latin typeface="Arial" pitchFamily="34" charset="0"/>
                <a:ea typeface="Arial" pitchFamily="34" charset="-122"/>
                <a:cs typeface="Arial" pitchFamily="34" charset="-120"/>
              </a:rPr>
              <a:t>  −  </a:t>
            </a:r>
            <a:pPr indent="0" marL="0">
              <a:buNone/>
            </a:pPr>
            <a:r>
              <a:rPr lang="en-US" sz="2800" b="1" dirty="0">
                <a:solidFill>
                  <a:srgbClr val="F2EFE6"/>
                </a:solidFill>
                <a:latin typeface="Arial" pitchFamily="34" charset="0"/>
                <a:ea typeface="Arial" pitchFamily="34" charset="-122"/>
                <a:cs typeface="Arial" pitchFamily="34" charset="-120"/>
              </a:rPr>
              <a:t>credits used × 0.05</a:t>
            </a:r>
            <a:endParaRPr lang="en-US" sz="2800" dirty="0"/>
          </a:p>
        </p:txBody>
      </p:sp>
      <p:sp>
        <p:nvSpPr>
          <p:cNvPr id="18" name="Text 16"/>
          <p:cNvSpPr txBox="1"/>
          <p:nvPr/>
        </p:nvSpPr>
        <p:spPr>
          <a:xfrm>
            <a:off x="548640" y="493776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2EFE6"/>
                </a:solidFill>
                <a:latin typeface="Calibri" pitchFamily="34" charset="0"/>
                <a:ea typeface="Calibri" pitchFamily="34" charset="-122"/>
                <a:cs typeface="Calibri" pitchFamily="34" charset="-120"/>
              </a:rPr>
              <a:t>Information costs money: search 1 · profile 2 (batch 1.2) · verified assessment 25 · offer 10 (20 in closing).</a:t>
            </a:r>
            <a:endParaRPr lang="en-US" sz="1500" dirty="0"/>
          </a:p>
          <a:p>
            <a:pPr marL="342900" indent="-342900">
              <a:spcAft>
                <a:spcPts val="800"/>
              </a:spcAft>
              <a:buSzPct val="100000"/>
              <a:buChar char="■"/>
            </a:pPr>
            <a:r>
              <a:rPr lang="en-US" sz="1500" dirty="0">
                <a:solidFill>
                  <a:srgbClr val="F2EFE6"/>
                </a:solidFill>
                <a:latin typeface="Calibri" pitchFamily="34" charset="0"/>
                <a:ea typeface="Calibri" pitchFamily="34" charset="-122"/>
                <a:cs typeface="Calibri" pitchFamily="34" charset="-120"/>
              </a:rPr>
              <a:t>Fabricated profiles exist, and signing one earns zero while blocking the slot.</a:t>
            </a:r>
            <a:endParaRPr lang="en-US" sz="1500" dirty="0"/>
          </a:p>
          <a:p>
            <a:pPr marL="342900" indent="-342900">
              <a:spcAft>
                <a:spcPts val="800"/>
              </a:spcAft>
              <a:buSzPct val="100000"/>
              <a:buChar char="■"/>
            </a:pPr>
            <a:r>
              <a:rPr lang="en-US" sz="1500" dirty="0">
                <a:solidFill>
                  <a:srgbClr val="F2EFE6"/>
                </a:solidFill>
                <a:latin typeface="Calibri" pitchFamily="34" charset="0"/>
                <a:ea typeface="Calibri" pitchFamily="34" charset="-122"/>
                <a:cs typeface="Calibri" pitchFamily="34" charset="-120"/>
              </a:rPr>
              <a:t>Recon hour: offers locked. Then the market opens and the best names go in seconds.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THE RESULT</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116 of 116 signed. Zero rejections. Rank #1.</a:t>
            </a:r>
            <a:endParaRPr lang="en-US" sz="3400" dirty="0"/>
          </a:p>
        </p:txBody>
      </p:sp>
      <p:sp>
        <p:nvSpPr>
          <p:cNvPr id="4" name="Shape 2"/>
          <p:cNvSpPr/>
          <p:nvPr/>
        </p:nvSpPr>
        <p:spPr>
          <a:xfrm>
            <a:off x="548640" y="1645920"/>
            <a:ext cx="2651760" cy="1417320"/>
          </a:xfrm>
          <a:prstGeom prst="roundRect">
            <a:avLst>
              <a:gd name="adj" fmla="val 7742"/>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5" name="Text 3"/>
          <p:cNvSpPr txBox="1"/>
          <p:nvPr/>
        </p:nvSpPr>
        <p:spPr>
          <a:xfrm>
            <a:off x="777240" y="1810512"/>
            <a:ext cx="2194560" cy="731520"/>
          </a:xfrm>
          <a:prstGeom prst="rect">
            <a:avLst/>
          </a:prstGeom>
          <a:noFill/>
          <a:ln/>
        </p:spPr>
        <p:txBody>
          <a:bodyPr wrap="square" lIns="0" tIns="0" rIns="0" bIns="0" rtlCol="0" anchor="ctr"/>
          <a:lstStyle/>
          <a:p>
            <a:pPr indent="0" marL="0">
              <a:buNone/>
            </a:pPr>
            <a:r>
              <a:rPr lang="en-US" sz="3800" b="1" dirty="0">
                <a:solidFill>
                  <a:srgbClr val="E0303A"/>
                </a:solidFill>
                <a:latin typeface="Arial" pitchFamily="34" charset="0"/>
                <a:ea typeface="Arial" pitchFamily="34" charset="-122"/>
                <a:cs typeface="Arial" pitchFamily="34" charset="-120"/>
              </a:rPr>
              <a:t>2,494</a:t>
            </a:r>
            <a:endParaRPr lang="en-US" sz="3800" dirty="0"/>
          </a:p>
        </p:txBody>
      </p:sp>
      <p:sp>
        <p:nvSpPr>
          <p:cNvPr id="6" name="Text 4"/>
          <p:cNvSpPr txBox="1"/>
          <p:nvPr/>
        </p:nvSpPr>
        <p:spPr>
          <a:xfrm>
            <a:off x="777240" y="2542032"/>
            <a:ext cx="2194560" cy="365760"/>
          </a:xfrm>
          <a:prstGeom prst="rect">
            <a:avLst/>
          </a:prstGeom>
          <a:noFill/>
          <a:ln/>
        </p:spPr>
        <p:txBody>
          <a:bodyPr wrap="square" lIns="0" tIns="0" rIns="0" bIns="0" rtlCol="0" anchor="ctr"/>
          <a:lstStyle/>
          <a:p>
            <a:pPr indent="0" marL="0">
              <a:buNone/>
            </a:pPr>
            <a:r>
              <a:rPr lang="en-US" sz="1400" dirty="0">
                <a:solidFill>
                  <a:srgbClr val="9A9486"/>
                </a:solidFill>
                <a:latin typeface="Calibri" pitchFamily="34" charset="0"/>
                <a:ea typeface="Calibri" pitchFamily="34" charset="-122"/>
                <a:cs typeface="Calibri" pitchFamily="34" charset="-120"/>
              </a:rPr>
              <a:t>points earned (most of any team)</a:t>
            </a:r>
            <a:endParaRPr lang="en-US" sz="1400" dirty="0"/>
          </a:p>
        </p:txBody>
      </p:sp>
      <p:sp>
        <p:nvSpPr>
          <p:cNvPr id="7" name="Shape 5"/>
          <p:cNvSpPr/>
          <p:nvPr/>
        </p:nvSpPr>
        <p:spPr>
          <a:xfrm>
            <a:off x="548640" y="3246120"/>
            <a:ext cx="2651760" cy="1417320"/>
          </a:xfrm>
          <a:prstGeom prst="roundRect">
            <a:avLst>
              <a:gd name="adj" fmla="val 7742"/>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8" name="Text 6"/>
          <p:cNvSpPr txBox="1"/>
          <p:nvPr/>
        </p:nvSpPr>
        <p:spPr>
          <a:xfrm>
            <a:off x="777240" y="3410712"/>
            <a:ext cx="2194560" cy="731520"/>
          </a:xfrm>
          <a:prstGeom prst="rect">
            <a:avLst/>
          </a:prstGeom>
          <a:noFill/>
          <a:ln/>
        </p:spPr>
        <p:txBody>
          <a:bodyPr wrap="square" lIns="0" tIns="0" rIns="0" bIns="0" rtlCol="0" anchor="ctr"/>
          <a:lstStyle/>
          <a:p>
            <a:pPr indent="0" marL="0">
              <a:buNone/>
            </a:pPr>
            <a:r>
              <a:rPr lang="en-US" sz="3800" b="1" dirty="0">
                <a:solidFill>
                  <a:srgbClr val="F2EFE6"/>
                </a:solidFill>
                <a:latin typeface="Arial" pitchFamily="34" charset="0"/>
                <a:ea typeface="Arial" pitchFamily="34" charset="-122"/>
                <a:cs typeface="Arial" pitchFamily="34" charset="-120"/>
              </a:rPr>
              <a:t>13,334</a:t>
            </a:r>
            <a:endParaRPr lang="en-US" sz="3800" dirty="0"/>
          </a:p>
        </p:txBody>
      </p:sp>
      <p:sp>
        <p:nvSpPr>
          <p:cNvPr id="9" name="Text 7"/>
          <p:cNvSpPr txBox="1"/>
          <p:nvPr/>
        </p:nvSpPr>
        <p:spPr>
          <a:xfrm>
            <a:off x="777240" y="4142232"/>
            <a:ext cx="2194560" cy="365760"/>
          </a:xfrm>
          <a:prstGeom prst="rect">
            <a:avLst/>
          </a:prstGeom>
          <a:noFill/>
          <a:ln/>
        </p:spPr>
        <p:txBody>
          <a:bodyPr wrap="square" lIns="0" tIns="0" rIns="0" bIns="0" rtlCol="0" anchor="ctr"/>
          <a:lstStyle/>
          <a:p>
            <a:pPr indent="0" marL="0">
              <a:buNone/>
            </a:pPr>
            <a:r>
              <a:rPr lang="en-US" sz="1400" dirty="0">
                <a:solidFill>
                  <a:srgbClr val="9A9486"/>
                </a:solidFill>
                <a:latin typeface="Calibri" pitchFamily="34" charset="0"/>
                <a:ea typeface="Calibri" pitchFamily="34" charset="-122"/>
                <a:cs typeface="Calibri" pitchFamily="34" charset="-120"/>
              </a:rPr>
              <a:t>credits used · 666.7 penalty</a:t>
            </a:r>
            <a:endParaRPr lang="en-US" sz="1400" dirty="0"/>
          </a:p>
        </p:txBody>
      </p:sp>
      <p:sp>
        <p:nvSpPr>
          <p:cNvPr id="10" name="Shape 8"/>
          <p:cNvSpPr/>
          <p:nvPr/>
        </p:nvSpPr>
        <p:spPr>
          <a:xfrm>
            <a:off x="548640" y="4846320"/>
            <a:ext cx="2651760" cy="1417320"/>
          </a:xfrm>
          <a:prstGeom prst="roundRect">
            <a:avLst>
              <a:gd name="adj" fmla="val 7742"/>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1" name="Text 9"/>
          <p:cNvSpPr txBox="1"/>
          <p:nvPr/>
        </p:nvSpPr>
        <p:spPr>
          <a:xfrm>
            <a:off x="777240" y="5010912"/>
            <a:ext cx="2194560" cy="731520"/>
          </a:xfrm>
          <a:prstGeom prst="rect">
            <a:avLst/>
          </a:prstGeom>
          <a:noFill/>
          <a:ln/>
        </p:spPr>
        <p:txBody>
          <a:bodyPr wrap="square" lIns="0" tIns="0" rIns="0" bIns="0" rtlCol="0" anchor="ctr"/>
          <a:lstStyle/>
          <a:p>
            <a:pPr indent="0" marL="0">
              <a:buNone/>
            </a:pPr>
            <a:r>
              <a:rPr lang="en-US" sz="3800" b="1" dirty="0">
                <a:solidFill>
                  <a:srgbClr val="F2B33D"/>
                </a:solidFill>
                <a:latin typeface="Arial" pitchFamily="34" charset="0"/>
                <a:ea typeface="Arial" pitchFamily="34" charset="-122"/>
                <a:cs typeface="Arial" pitchFamily="34" charset="-120"/>
              </a:rPr>
              <a:t>1,827.3</a:t>
            </a:r>
            <a:endParaRPr lang="en-US" sz="3800" dirty="0"/>
          </a:p>
        </p:txBody>
      </p:sp>
      <p:sp>
        <p:nvSpPr>
          <p:cNvPr id="12" name="Text 10"/>
          <p:cNvSpPr txBox="1"/>
          <p:nvPr/>
        </p:nvSpPr>
        <p:spPr>
          <a:xfrm>
            <a:off x="777240" y="5742432"/>
            <a:ext cx="2194560" cy="365760"/>
          </a:xfrm>
          <a:prstGeom prst="rect">
            <a:avLst/>
          </a:prstGeom>
          <a:noFill/>
          <a:ln/>
        </p:spPr>
        <p:txBody>
          <a:bodyPr wrap="square" lIns="0" tIns="0" rIns="0" bIns="0" rtlCol="0" anchor="ctr"/>
          <a:lstStyle/>
          <a:p>
            <a:pPr indent="0" marL="0">
              <a:buNone/>
            </a:pPr>
            <a:r>
              <a:rPr lang="en-US" sz="1400" dirty="0">
                <a:solidFill>
                  <a:srgbClr val="9A9486"/>
                </a:solidFill>
                <a:latin typeface="Calibri" pitchFamily="34" charset="0"/>
                <a:ea typeface="Calibri" pitchFamily="34" charset="-122"/>
                <a:cs typeface="Calibri" pitchFamily="34" charset="-120"/>
              </a:rPr>
              <a:t>final arena score</a:t>
            </a:r>
            <a:endParaRPr lang="en-US" sz="1400" dirty="0"/>
          </a:p>
        </p:txBody>
      </p:sp>
      <p:sp>
        <p:nvSpPr>
          <p:cNvPr id="13" name="Shape 11"/>
          <p:cNvSpPr/>
          <p:nvPr/>
        </p:nvSpPr>
        <p:spPr>
          <a:xfrm>
            <a:off x="3474720" y="1645920"/>
            <a:ext cx="8138160" cy="4617720"/>
          </a:xfrm>
          <a:prstGeom prst="roundRect">
            <a:avLst>
              <a:gd name="adj" fmla="val 237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4" name="Image 0" descr="/private/tmp/claude-501/-Users-rimshachaudhary/39e555b3-5a08-4f48-ba14-96d27de05f30/scratchpad/deck/c_leader.png">    </p:cNvPr>
          <p:cNvPicPr>
            <a:picLocks noChangeAspect="1"/>
          </p:cNvPicPr>
          <p:nvPr/>
        </p:nvPicPr>
        <p:blipFill>
          <a:blip r:embed="rId1"/>
          <a:stretch>
            <a:fillRect/>
          </a:stretch>
        </p:blipFill>
        <p:spPr>
          <a:xfrm>
            <a:off x="3703320" y="1783080"/>
            <a:ext cx="7680960" cy="4133088"/>
          </a:xfrm>
          <a:prstGeom prst="rect">
            <a:avLst/>
          </a:prstGeom>
        </p:spPr>
      </p:pic>
      <p:sp>
        <p:nvSpPr>
          <p:cNvPr id="15" name="Text 12"/>
          <p:cNvSpPr txBox="1"/>
          <p:nvPr/>
        </p:nvSpPr>
        <p:spPr>
          <a:xfrm>
            <a:off x="3657600" y="5852160"/>
            <a:ext cx="7772400" cy="320040"/>
          </a:xfrm>
          <a:prstGeom prst="rect">
            <a:avLst/>
          </a:prstGeom>
          <a:noFill/>
          <a:ln/>
        </p:spPr>
        <p:txBody>
          <a:bodyPr wrap="square" lIns="0" tIns="0" rIns="0" bIns="0" rtlCol="0" anchor="ctr"/>
          <a:lstStyle/>
          <a:p>
            <a:pPr indent="0" marL="0">
              <a:buNone/>
            </a:pPr>
            <a:r>
              <a:rPr lang="en-US" sz="1100" i="1" dirty="0">
                <a:solidFill>
                  <a:srgbClr val="9A9486"/>
                </a:solidFill>
                <a:latin typeface="Calibri" pitchFamily="34" charset="0"/>
                <a:ea typeface="Calibri" pitchFamily="34" charset="-122"/>
                <a:cs typeface="Calibri" pitchFamily="34" charset="-120"/>
              </a:rPr>
              <a:t>Snapshot of the live board at 15:45. Our final ledger at close (17:01) was unchanged. Official results pending.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Three layers, one brain.</a:t>
            </a:r>
            <a:endParaRPr lang="en-US" sz="3400" dirty="0"/>
          </a:p>
        </p:txBody>
      </p:sp>
      <p:pic>
        <p:nvPicPr>
          <p:cNvPr id="4" name="Image 0" descr="/private/tmp/claude-501/-Users-rimshachaudhary/39e555b3-5a08-4f48-ba14-96d27de05f30/scratchpad/deck/arch.png">    </p:cNvPr>
          <p:cNvPicPr>
            <a:picLocks noChangeAspect="1"/>
          </p:cNvPicPr>
          <p:nvPr/>
        </p:nvPicPr>
        <p:blipFill>
          <a:blip r:embed="rId1"/>
          <a:stretch>
            <a:fillRect/>
          </a:stretch>
        </p:blipFill>
        <p:spPr>
          <a:xfrm>
            <a:off x="365760" y="1325880"/>
            <a:ext cx="6766560" cy="5413248"/>
          </a:xfrm>
          <a:prstGeom prst="rect">
            <a:avLst/>
          </a:prstGeom>
        </p:spPr>
      </p:pic>
      <p:sp>
        <p:nvSpPr>
          <p:cNvPr id="5" name="Shape 2"/>
          <p:cNvSpPr/>
          <p:nvPr/>
        </p:nvSpPr>
        <p:spPr>
          <a:xfrm>
            <a:off x="7223760" y="1463040"/>
            <a:ext cx="4389120" cy="731520"/>
          </a:xfrm>
          <a:prstGeom prst="roundRect">
            <a:avLst>
              <a:gd name="adj" fmla="val 15000"/>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6" name="Image 1" descr="/private/tmp/claude-501/-Users-rimshachaudhary/39e555b3-5a08-4f48-ba14-96d27de05f30/scratchpad/deck/sph_E0303A.png">    </p:cNvPr>
          <p:cNvPicPr>
            <a:picLocks noChangeAspect="1"/>
          </p:cNvPicPr>
          <p:nvPr/>
        </p:nvPicPr>
        <p:blipFill>
          <a:blip r:embed="rId2"/>
          <a:stretch>
            <a:fillRect/>
          </a:stretch>
        </p:blipFill>
        <p:spPr>
          <a:xfrm>
            <a:off x="7330440" y="1645920"/>
            <a:ext cx="390144" cy="390144"/>
          </a:xfrm>
          <a:prstGeom prst="rect">
            <a:avLst/>
          </a:prstGeom>
        </p:spPr>
      </p:pic>
      <p:sp>
        <p:nvSpPr>
          <p:cNvPr id="7" name="Text 3"/>
          <p:cNvSpPr txBox="1"/>
          <p:nvPr/>
        </p:nvSpPr>
        <p:spPr>
          <a:xfrm>
            <a:off x="7818120" y="1527048"/>
            <a:ext cx="3657600" cy="274320"/>
          </a:xfrm>
          <a:prstGeom prst="rect">
            <a:avLst/>
          </a:prstGeom>
          <a:noFill/>
          <a:ln/>
        </p:spPr>
        <p:txBody>
          <a:bodyPr wrap="square" lIns="0" tIns="0" rIns="0" bIns="0" rtlCol="0" anchor="ctr"/>
          <a:lstStyle/>
          <a:p>
            <a:pPr indent="0" marL="0">
              <a:buNone/>
            </a:pPr>
            <a:r>
              <a:rPr lang="en-US" sz="1300" b="1" dirty="0">
                <a:solidFill>
                  <a:srgbClr val="F2EFE6"/>
                </a:solidFill>
                <a:latin typeface="Arial" pitchFamily="34" charset="0"/>
                <a:ea typeface="Arial" pitchFamily="34" charset="-122"/>
                <a:cs typeface="Arial" pitchFamily="34" charset="-120"/>
              </a:rPr>
              <a:t>agent.py</a:t>
            </a:r>
            <a:endParaRPr lang="en-US" sz="1300" dirty="0"/>
          </a:p>
        </p:txBody>
      </p:sp>
      <p:sp>
        <p:nvSpPr>
          <p:cNvPr id="8" name="Text 4"/>
          <p:cNvSpPr txBox="1"/>
          <p:nvPr/>
        </p:nvSpPr>
        <p:spPr>
          <a:xfrm>
            <a:off x="7818120" y="1801368"/>
            <a:ext cx="3703320" cy="365760"/>
          </a:xfrm>
          <a:prstGeom prst="rect">
            <a:avLst/>
          </a:prstGeom>
          <a:noFill/>
          <a:ln/>
        </p:spPr>
        <p:txBody>
          <a:bodyPr wrap="square" lIns="0" tIns="0" rIns="0" bIns="0" rtlCol="0" anchor="t"/>
          <a:lstStyle/>
          <a:p>
            <a:pPr indent="0" marL="0">
              <a:buNone/>
            </a:pPr>
            <a:r>
              <a:rPr lang="en-US" sz="1100" dirty="0">
                <a:solidFill>
                  <a:srgbClr val="9A9486"/>
                </a:solidFill>
                <a:latin typeface="Calibri" pitchFamily="34" charset="0"/>
                <a:ea typeface="Calibri" pitchFamily="34" charset="-122"/>
                <a:cs typeface="Calibri" pitchFamily="34" charset="-120"/>
              </a:rPr>
              <a:t>Orchestrator: phase loop, spend rule, signing waves, crash-safe main loop.</a:t>
            </a:r>
            <a:endParaRPr lang="en-US" sz="1100" dirty="0"/>
          </a:p>
        </p:txBody>
      </p:sp>
      <p:sp>
        <p:nvSpPr>
          <p:cNvPr id="9" name="Shape 5"/>
          <p:cNvSpPr/>
          <p:nvPr/>
        </p:nvSpPr>
        <p:spPr>
          <a:xfrm>
            <a:off x="7223760" y="2313432"/>
            <a:ext cx="4389120" cy="731520"/>
          </a:xfrm>
          <a:prstGeom prst="roundRect">
            <a:avLst>
              <a:gd name="adj" fmla="val 15000"/>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0" name="Image 2" descr="/private/tmp/claude-501/-Users-rimshachaudhary/39e555b3-5a08-4f48-ba14-96d27de05f30/scratchpad/deck/sph_8A7CFF.png">    </p:cNvPr>
          <p:cNvPicPr>
            <a:picLocks noChangeAspect="1"/>
          </p:cNvPicPr>
          <p:nvPr/>
        </p:nvPicPr>
        <p:blipFill>
          <a:blip r:embed="rId3"/>
          <a:stretch>
            <a:fillRect/>
          </a:stretch>
        </p:blipFill>
        <p:spPr>
          <a:xfrm>
            <a:off x="7330440" y="2496312"/>
            <a:ext cx="390144" cy="390144"/>
          </a:xfrm>
          <a:prstGeom prst="rect">
            <a:avLst/>
          </a:prstGeom>
        </p:spPr>
      </p:pic>
      <p:sp>
        <p:nvSpPr>
          <p:cNvPr id="11" name="Text 6"/>
          <p:cNvSpPr txBox="1"/>
          <p:nvPr/>
        </p:nvSpPr>
        <p:spPr>
          <a:xfrm>
            <a:off x="7818120" y="2377440"/>
            <a:ext cx="3657600" cy="274320"/>
          </a:xfrm>
          <a:prstGeom prst="rect">
            <a:avLst/>
          </a:prstGeom>
          <a:noFill/>
          <a:ln/>
        </p:spPr>
        <p:txBody>
          <a:bodyPr wrap="square" lIns="0" tIns="0" rIns="0" bIns="0" rtlCol="0" anchor="ctr"/>
          <a:lstStyle/>
          <a:p>
            <a:pPr indent="0" marL="0">
              <a:buNone/>
            </a:pPr>
            <a:r>
              <a:rPr lang="en-US" sz="1300" b="1" dirty="0">
                <a:solidFill>
                  <a:srgbClr val="F2EFE6"/>
                </a:solidFill>
                <a:latin typeface="Arial" pitchFamily="34" charset="0"/>
                <a:ea typeface="Arial" pitchFamily="34" charset="-122"/>
                <a:cs typeface="Arial" pitchFamily="34" charset="-120"/>
              </a:rPr>
              <a:t>normalize.py</a:t>
            </a:r>
            <a:endParaRPr lang="en-US" sz="1300" dirty="0"/>
          </a:p>
        </p:txBody>
      </p:sp>
      <p:sp>
        <p:nvSpPr>
          <p:cNvPr id="12" name="Text 7"/>
          <p:cNvSpPr txBox="1"/>
          <p:nvPr/>
        </p:nvSpPr>
        <p:spPr>
          <a:xfrm>
            <a:off x="7818120" y="2651760"/>
            <a:ext cx="3703320" cy="365760"/>
          </a:xfrm>
          <a:prstGeom prst="rect">
            <a:avLst/>
          </a:prstGeom>
          <a:noFill/>
          <a:ln/>
        </p:spPr>
        <p:txBody>
          <a:bodyPr wrap="square" lIns="0" tIns="0" rIns="0" bIns="0" rtlCol="0" anchor="t"/>
          <a:lstStyle/>
          <a:p>
            <a:pPr indent="0" marL="0">
              <a:buNone/>
            </a:pPr>
            <a:r>
              <a:rPr lang="en-US" sz="1100" dirty="0">
                <a:solidFill>
                  <a:srgbClr val="9A9486"/>
                </a:solidFill>
                <a:latin typeface="Calibri" pitchFamily="34" charset="0"/>
                <a:ea typeface="Calibri" pitchFamily="34" charset="-122"/>
                <a:cs typeface="Calibri" pitchFamily="34" charset="-120"/>
              </a:rPr>
              <a:t>Parses messy fields: skills, CTC, notice, assessment, experience.</a:t>
            </a:r>
            <a:endParaRPr lang="en-US" sz="1100" dirty="0"/>
          </a:p>
        </p:txBody>
      </p:sp>
      <p:sp>
        <p:nvSpPr>
          <p:cNvPr id="13" name="Shape 8"/>
          <p:cNvSpPr/>
          <p:nvPr/>
        </p:nvSpPr>
        <p:spPr>
          <a:xfrm>
            <a:off x="7223760" y="3163824"/>
            <a:ext cx="4389120" cy="731520"/>
          </a:xfrm>
          <a:prstGeom prst="roundRect">
            <a:avLst>
              <a:gd name="adj" fmla="val 15000"/>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4" name="Image 3" descr="/private/tmp/claude-501/-Users-rimshachaudhary/39e555b3-5a08-4f48-ba14-96d27de05f30/scratchpad/deck/sph_F2B33D.png">    </p:cNvPr>
          <p:cNvPicPr>
            <a:picLocks noChangeAspect="1"/>
          </p:cNvPicPr>
          <p:nvPr/>
        </p:nvPicPr>
        <p:blipFill>
          <a:blip r:embed="rId4"/>
          <a:stretch>
            <a:fillRect/>
          </a:stretch>
        </p:blipFill>
        <p:spPr>
          <a:xfrm>
            <a:off x="7330440" y="3346704"/>
            <a:ext cx="390144" cy="390144"/>
          </a:xfrm>
          <a:prstGeom prst="rect">
            <a:avLst/>
          </a:prstGeom>
        </p:spPr>
      </p:pic>
      <p:sp>
        <p:nvSpPr>
          <p:cNvPr id="15" name="Text 9"/>
          <p:cNvSpPr txBox="1"/>
          <p:nvPr/>
        </p:nvSpPr>
        <p:spPr>
          <a:xfrm>
            <a:off x="7818120" y="3227832"/>
            <a:ext cx="3657600" cy="274320"/>
          </a:xfrm>
          <a:prstGeom prst="rect">
            <a:avLst/>
          </a:prstGeom>
          <a:noFill/>
          <a:ln/>
        </p:spPr>
        <p:txBody>
          <a:bodyPr wrap="square" lIns="0" tIns="0" rIns="0" bIns="0" rtlCol="0" anchor="ctr"/>
          <a:lstStyle/>
          <a:p>
            <a:pPr indent="0" marL="0">
              <a:buNone/>
            </a:pPr>
            <a:r>
              <a:rPr lang="en-US" sz="1300" b="1" dirty="0">
                <a:solidFill>
                  <a:srgbClr val="F2EFE6"/>
                </a:solidFill>
                <a:latin typeface="Arial" pitchFamily="34" charset="0"/>
                <a:ea typeface="Arial" pitchFamily="34" charset="-122"/>
                <a:cs typeface="Arial" pitchFamily="34" charset="-120"/>
              </a:rPr>
              <a:t>scoring.py</a:t>
            </a:r>
            <a:endParaRPr lang="en-US" sz="1300" dirty="0"/>
          </a:p>
        </p:txBody>
      </p:sp>
      <p:sp>
        <p:nvSpPr>
          <p:cNvPr id="16" name="Text 10"/>
          <p:cNvSpPr txBox="1"/>
          <p:nvPr/>
        </p:nvSpPr>
        <p:spPr>
          <a:xfrm>
            <a:off x="7818120" y="3502152"/>
            <a:ext cx="3703320" cy="365760"/>
          </a:xfrm>
          <a:prstGeom prst="rect">
            <a:avLst/>
          </a:prstGeom>
          <a:noFill/>
          <a:ln/>
        </p:spPr>
        <p:txBody>
          <a:bodyPr wrap="square" lIns="0" tIns="0" rIns="0" bIns="0" rtlCol="0" anchor="t"/>
          <a:lstStyle/>
          <a:p>
            <a:pPr indent="0" marL="0">
              <a:buNone/>
            </a:pPr>
            <a:r>
              <a:rPr lang="en-US" sz="1100" dirty="0">
                <a:solidFill>
                  <a:srgbClr val="9A9486"/>
                </a:solidFill>
                <a:latin typeface="Calibri" pitchFamily="34" charset="0"/>
                <a:ea typeface="Calibri" pitchFamily="34" charset="-122"/>
                <a:cs typeface="Calibri" pitchFamily="34" charset="-120"/>
              </a:rPr>
              <a:t>Requisition model, bar checks, quality score, risk flags, identity keys.</a:t>
            </a:r>
            <a:endParaRPr lang="en-US" sz="1100" dirty="0"/>
          </a:p>
        </p:txBody>
      </p:sp>
      <p:sp>
        <p:nvSpPr>
          <p:cNvPr id="17" name="Shape 11"/>
          <p:cNvSpPr/>
          <p:nvPr/>
        </p:nvSpPr>
        <p:spPr>
          <a:xfrm>
            <a:off x="7223760" y="4014216"/>
            <a:ext cx="4389120" cy="731520"/>
          </a:xfrm>
          <a:prstGeom prst="roundRect">
            <a:avLst>
              <a:gd name="adj" fmla="val 15000"/>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8" name="Image 4" descr="/private/tmp/claude-501/-Users-rimshachaudhary/39e555b3-5a08-4f48-ba14-96d27de05f30/scratchpad/deck/sph_E0303A.png">    </p:cNvPr>
          <p:cNvPicPr>
            <a:picLocks noChangeAspect="1"/>
          </p:cNvPicPr>
          <p:nvPr/>
        </p:nvPicPr>
        <p:blipFill>
          <a:blip r:embed="rId5"/>
          <a:stretch>
            <a:fillRect/>
          </a:stretch>
        </p:blipFill>
        <p:spPr>
          <a:xfrm>
            <a:off x="7330440" y="4197096"/>
            <a:ext cx="390144" cy="390144"/>
          </a:xfrm>
          <a:prstGeom prst="rect">
            <a:avLst/>
          </a:prstGeom>
        </p:spPr>
      </p:pic>
      <p:sp>
        <p:nvSpPr>
          <p:cNvPr id="19" name="Text 12"/>
          <p:cNvSpPr txBox="1"/>
          <p:nvPr/>
        </p:nvSpPr>
        <p:spPr>
          <a:xfrm>
            <a:off x="7818120" y="4078224"/>
            <a:ext cx="3657600" cy="274320"/>
          </a:xfrm>
          <a:prstGeom prst="rect">
            <a:avLst/>
          </a:prstGeom>
          <a:noFill/>
          <a:ln/>
        </p:spPr>
        <p:txBody>
          <a:bodyPr wrap="square" lIns="0" tIns="0" rIns="0" bIns="0" rtlCol="0" anchor="ctr"/>
          <a:lstStyle/>
          <a:p>
            <a:pPr indent="0" marL="0">
              <a:buNone/>
            </a:pPr>
            <a:r>
              <a:rPr lang="en-US" sz="1300" b="1" dirty="0">
                <a:solidFill>
                  <a:srgbClr val="F2EFE6"/>
                </a:solidFill>
                <a:latin typeface="Arial" pitchFamily="34" charset="0"/>
                <a:ea typeface="Arial" pitchFamily="34" charset="-122"/>
                <a:cs typeface="Arial" pitchFamily="34" charset="-120"/>
              </a:rPr>
              <a:t>learning.py</a:t>
            </a:r>
            <a:endParaRPr lang="en-US" sz="1300" dirty="0"/>
          </a:p>
        </p:txBody>
      </p:sp>
      <p:sp>
        <p:nvSpPr>
          <p:cNvPr id="20" name="Text 13"/>
          <p:cNvSpPr txBox="1"/>
          <p:nvPr/>
        </p:nvSpPr>
        <p:spPr>
          <a:xfrm>
            <a:off x="7818120" y="4352544"/>
            <a:ext cx="3703320" cy="365760"/>
          </a:xfrm>
          <a:prstGeom prst="rect">
            <a:avLst/>
          </a:prstGeom>
          <a:noFill/>
          <a:ln/>
        </p:spPr>
        <p:txBody>
          <a:bodyPr wrap="square" lIns="0" tIns="0" rIns="0" bIns="0" rtlCol="0" anchor="t"/>
          <a:lstStyle/>
          <a:p>
            <a:pPr indent="0" marL="0">
              <a:buNone/>
            </a:pPr>
            <a:r>
              <a:rPr lang="en-US" sz="1100" dirty="0">
                <a:solidFill>
                  <a:srgbClr val="9A9486"/>
                </a:solidFill>
                <a:latin typeface="Calibri" pitchFamily="34" charset="0"/>
                <a:ea typeface="Calibri" pitchFamily="34" charset="-122"/>
                <a:cs typeface="Calibri" pitchFamily="34" charset="-120"/>
              </a:rPr>
              <a:t>Assessment model + note scorer: learns from what we paid for.</a:t>
            </a:r>
            <a:endParaRPr lang="en-US" sz="1100" dirty="0"/>
          </a:p>
        </p:txBody>
      </p:sp>
      <p:sp>
        <p:nvSpPr>
          <p:cNvPr id="21" name="Shape 14"/>
          <p:cNvSpPr/>
          <p:nvPr/>
        </p:nvSpPr>
        <p:spPr>
          <a:xfrm>
            <a:off x="7223760" y="4864608"/>
            <a:ext cx="4389120" cy="731520"/>
          </a:xfrm>
          <a:prstGeom prst="roundRect">
            <a:avLst>
              <a:gd name="adj" fmla="val 15000"/>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22" name="Image 5" descr="/private/tmp/claude-501/-Users-rimshachaudhary/39e555b3-5a08-4f48-ba14-96d27de05f30/scratchpad/deck/sph_5FA8FF.png">    </p:cNvPr>
          <p:cNvPicPr>
            <a:picLocks noChangeAspect="1"/>
          </p:cNvPicPr>
          <p:nvPr/>
        </p:nvPicPr>
        <p:blipFill>
          <a:blip r:embed="rId6"/>
          <a:stretch>
            <a:fillRect/>
          </a:stretch>
        </p:blipFill>
        <p:spPr>
          <a:xfrm>
            <a:off x="7330440" y="5047488"/>
            <a:ext cx="390144" cy="390144"/>
          </a:xfrm>
          <a:prstGeom prst="rect">
            <a:avLst/>
          </a:prstGeom>
        </p:spPr>
      </p:pic>
      <p:sp>
        <p:nvSpPr>
          <p:cNvPr id="23" name="Text 15"/>
          <p:cNvSpPr txBox="1"/>
          <p:nvPr/>
        </p:nvSpPr>
        <p:spPr>
          <a:xfrm>
            <a:off x="7818120" y="4928616"/>
            <a:ext cx="3657600" cy="274320"/>
          </a:xfrm>
          <a:prstGeom prst="rect">
            <a:avLst/>
          </a:prstGeom>
          <a:noFill/>
          <a:ln/>
        </p:spPr>
        <p:txBody>
          <a:bodyPr wrap="square" lIns="0" tIns="0" rIns="0" bIns="0" rtlCol="0" anchor="ctr"/>
          <a:lstStyle/>
          <a:p>
            <a:pPr indent="0" marL="0">
              <a:buNone/>
            </a:pPr>
            <a:r>
              <a:rPr lang="en-US" sz="1300" b="1" dirty="0">
                <a:solidFill>
                  <a:srgbClr val="F2EFE6"/>
                </a:solidFill>
                <a:latin typeface="Arial" pitchFamily="34" charset="0"/>
                <a:ea typeface="Arial" pitchFamily="34" charset="-122"/>
                <a:cs typeface="Arial" pitchFamily="34" charset="-120"/>
              </a:rPr>
              <a:t>state.json</a:t>
            </a:r>
            <a:endParaRPr lang="en-US" sz="1300" dirty="0"/>
          </a:p>
        </p:txBody>
      </p:sp>
      <p:sp>
        <p:nvSpPr>
          <p:cNvPr id="24" name="Text 16"/>
          <p:cNvSpPr txBox="1"/>
          <p:nvPr/>
        </p:nvSpPr>
        <p:spPr>
          <a:xfrm>
            <a:off x="7818120" y="5202936"/>
            <a:ext cx="3703320" cy="365760"/>
          </a:xfrm>
          <a:prstGeom prst="rect">
            <a:avLst/>
          </a:prstGeom>
          <a:noFill/>
          <a:ln/>
        </p:spPr>
        <p:txBody>
          <a:bodyPr wrap="square" lIns="0" tIns="0" rIns="0" bIns="0" rtlCol="0" anchor="t"/>
          <a:lstStyle/>
          <a:p>
            <a:pPr indent="0" marL="0">
              <a:buNone/>
            </a:pPr>
            <a:r>
              <a:rPr lang="en-US" sz="1100" dirty="0">
                <a:solidFill>
                  <a:srgbClr val="9A9486"/>
                </a:solidFill>
                <a:latin typeface="Calibri" pitchFamily="34" charset="0"/>
                <a:ea typeface="Calibri" pitchFamily="34" charset="-122"/>
                <a:cs typeface="Calibri" pitchFamily="34" charset="-120"/>
              </a:rPr>
              <a:t>Everything bought, saved atomically: restarts never pay twice.</a:t>
            </a:r>
            <a:endParaRPr lang="en-US" sz="1100" dirty="0"/>
          </a:p>
        </p:txBody>
      </p:sp>
      <p:sp>
        <p:nvSpPr>
          <p:cNvPr id="25" name="Shape 17"/>
          <p:cNvSpPr/>
          <p:nvPr/>
        </p:nvSpPr>
        <p:spPr>
          <a:xfrm>
            <a:off x="7223760" y="5715000"/>
            <a:ext cx="4389120" cy="731520"/>
          </a:xfrm>
          <a:prstGeom prst="roundRect">
            <a:avLst>
              <a:gd name="adj" fmla="val 15000"/>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26" name="Image 6" descr="/private/tmp/claude-501/-Users-rimshachaudhary/39e555b3-5a08-4f48-ba14-96d27de05f30/scratchpad/deck/sph_2BB3A3.png">    </p:cNvPr>
          <p:cNvPicPr>
            <a:picLocks noChangeAspect="1"/>
          </p:cNvPicPr>
          <p:nvPr/>
        </p:nvPicPr>
        <p:blipFill>
          <a:blip r:embed="rId7"/>
          <a:stretch>
            <a:fillRect/>
          </a:stretch>
        </p:blipFill>
        <p:spPr>
          <a:xfrm>
            <a:off x="7330440" y="5897880"/>
            <a:ext cx="390144" cy="390144"/>
          </a:xfrm>
          <a:prstGeom prst="rect">
            <a:avLst/>
          </a:prstGeom>
        </p:spPr>
      </p:pic>
      <p:sp>
        <p:nvSpPr>
          <p:cNvPr id="27" name="Text 18"/>
          <p:cNvSpPr txBox="1"/>
          <p:nvPr/>
        </p:nvSpPr>
        <p:spPr>
          <a:xfrm>
            <a:off x="7818120" y="5779008"/>
            <a:ext cx="3657600" cy="274320"/>
          </a:xfrm>
          <a:prstGeom prst="rect">
            <a:avLst/>
          </a:prstGeom>
          <a:noFill/>
          <a:ln/>
        </p:spPr>
        <p:txBody>
          <a:bodyPr wrap="square" lIns="0" tIns="0" rIns="0" bIns="0" rtlCol="0" anchor="ctr"/>
          <a:lstStyle/>
          <a:p>
            <a:pPr indent="0" marL="0">
              <a:buNone/>
            </a:pPr>
            <a:r>
              <a:rPr lang="en-US" sz="1300" b="1" dirty="0">
                <a:solidFill>
                  <a:srgbClr val="F2EFE6"/>
                </a:solidFill>
                <a:latin typeface="Arial" pitchFamily="34" charset="0"/>
                <a:ea typeface="Arial" pitchFamily="34" charset="-122"/>
                <a:cs typeface="Arial" pitchFamily="34" charset="-120"/>
              </a:rPr>
              <a:t>ThrottledArena</a:t>
            </a:r>
            <a:endParaRPr lang="en-US" sz="1300" dirty="0"/>
          </a:p>
        </p:txBody>
      </p:sp>
      <p:sp>
        <p:nvSpPr>
          <p:cNvPr id="28" name="Text 19"/>
          <p:cNvSpPr txBox="1"/>
          <p:nvPr/>
        </p:nvSpPr>
        <p:spPr>
          <a:xfrm>
            <a:off x="7818120" y="6053328"/>
            <a:ext cx="3703320" cy="365760"/>
          </a:xfrm>
          <a:prstGeom prst="rect">
            <a:avLst/>
          </a:prstGeom>
          <a:noFill/>
          <a:ln/>
        </p:spPr>
        <p:txBody>
          <a:bodyPr wrap="square" lIns="0" tIns="0" rIns="0" bIns="0" rtlCol="0" anchor="t"/>
          <a:lstStyle/>
          <a:p>
            <a:pPr indent="0" marL="0">
              <a:buNone/>
            </a:pPr>
            <a:r>
              <a:rPr lang="en-US" sz="1100" dirty="0">
                <a:solidFill>
                  <a:srgbClr val="9A9486"/>
                </a:solidFill>
                <a:latin typeface="Calibri" pitchFamily="34" charset="0"/>
                <a:ea typeface="Calibri" pitchFamily="34" charset="-122"/>
                <a:cs typeface="Calibri" pitchFamily="34" charset="-120"/>
              </a:rPr>
              <a:t>Organiser client + our 8.5 req/s gate and response sampling.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THE FLOW</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What the agent does in each phase.</a:t>
            </a:r>
            <a:endParaRPr lang="en-US" sz="3400" dirty="0"/>
          </a:p>
        </p:txBody>
      </p:sp>
      <p:sp>
        <p:nvSpPr>
          <p:cNvPr id="4" name="Shape 2"/>
          <p:cNvSpPr/>
          <p:nvPr/>
        </p:nvSpPr>
        <p:spPr>
          <a:xfrm>
            <a:off x="548640" y="2011680"/>
            <a:ext cx="1691640" cy="3017520"/>
          </a:xfrm>
          <a:prstGeom prst="roundRect">
            <a:avLst>
              <a:gd name="adj" fmla="val 648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5" name="Image 0" descr="/private/tmp/claude-501/-Users-rimshachaudhary/39e555b3-5a08-4f48-ba14-96d27de05f30/scratchpad/deck/sph_9A9486.png">    </p:cNvPr>
          <p:cNvPicPr>
            <a:picLocks noChangeAspect="1"/>
          </p:cNvPicPr>
          <p:nvPr/>
        </p:nvPicPr>
        <p:blipFill>
          <a:blip r:embed="rId1"/>
          <a:stretch>
            <a:fillRect/>
          </a:stretch>
        </p:blipFill>
        <p:spPr>
          <a:xfrm>
            <a:off x="988060" y="2202180"/>
            <a:ext cx="812800" cy="812800"/>
          </a:xfrm>
          <a:prstGeom prst="rect">
            <a:avLst/>
          </a:prstGeom>
        </p:spPr>
      </p:pic>
      <p:sp>
        <p:nvSpPr>
          <p:cNvPr id="6" name="Text 3"/>
          <p:cNvSpPr txBox="1"/>
          <p:nvPr/>
        </p:nvSpPr>
        <p:spPr>
          <a:xfrm>
            <a:off x="1051560" y="22402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4"/>
          <p:cNvSpPr txBox="1"/>
          <p:nvPr/>
        </p:nvSpPr>
        <p:spPr>
          <a:xfrm>
            <a:off x="640080" y="3063240"/>
            <a:ext cx="1508760" cy="365760"/>
          </a:xfrm>
          <a:prstGeom prst="rect">
            <a:avLst/>
          </a:prstGeom>
          <a:noFill/>
          <a:ln/>
        </p:spPr>
        <p:txBody>
          <a:bodyPr wrap="square" lIns="0" tIns="0" rIns="0" bIns="0" rtlCol="0" anchor="ctr"/>
          <a:lstStyle/>
          <a:p>
            <a:pPr algn="ctr" indent="0" marL="0">
              <a:buNone/>
            </a:pPr>
            <a:r>
              <a:rPr lang="en-US" sz="1600" b="1" dirty="0">
                <a:solidFill>
                  <a:srgbClr val="F2EFE6"/>
                </a:solidFill>
                <a:latin typeface="Arial" pitchFamily="34" charset="0"/>
                <a:ea typeface="Arial" pitchFamily="34" charset="-122"/>
                <a:cs typeface="Arial" pitchFamily="34" charset="-120"/>
              </a:rPr>
              <a:t>WAIT</a:t>
            </a:r>
            <a:endParaRPr lang="en-US" sz="1600" dirty="0"/>
          </a:p>
        </p:txBody>
      </p:sp>
      <p:sp>
        <p:nvSpPr>
          <p:cNvPr id="8" name="Text 5"/>
          <p:cNvSpPr txBox="1"/>
          <p:nvPr/>
        </p:nvSpPr>
        <p:spPr>
          <a:xfrm>
            <a:off x="685800" y="3474720"/>
            <a:ext cx="1417320" cy="1463040"/>
          </a:xfrm>
          <a:prstGeom prst="rect">
            <a:avLst/>
          </a:prstGeom>
          <a:noFill/>
          <a:ln/>
        </p:spPr>
        <p:txBody>
          <a:bodyPr wrap="square" lIns="0" tIns="0" rIns="0" bIns="0" rtlCol="0" anchor="t"/>
          <a:lstStyle/>
          <a:p>
            <a:pPr algn="ctr" indent="0" marL="0">
              <a:buNone/>
            </a:pPr>
            <a:r>
              <a:rPr lang="en-US" sz="1200" dirty="0">
                <a:solidFill>
                  <a:srgbClr val="9A9486"/>
                </a:solidFill>
                <a:latin typeface="Calibri" pitchFamily="34" charset="0"/>
                <a:ea typeface="Calibri" pitchFamily="34" charset="-122"/>
                <a:cs typeface="Calibri" pitchFamily="34" charset="-120"/>
              </a:rPr>
              <a:t>Poll free /ledger until the arena opens.</a:t>
            </a:r>
            <a:endParaRPr lang="en-US" sz="1200" dirty="0"/>
          </a:p>
        </p:txBody>
      </p:sp>
      <p:sp>
        <p:nvSpPr>
          <p:cNvPr id="9" name="Shape 6"/>
          <p:cNvSpPr/>
          <p:nvPr/>
        </p:nvSpPr>
        <p:spPr>
          <a:xfrm>
            <a:off x="2258568" y="3291840"/>
            <a:ext cx="146304" cy="274320"/>
          </a:xfrm>
          <a:prstGeom prst="rightArrow">
            <a:avLst/>
          </a:prstGeom>
          <a:solidFill>
            <a:srgbClr val="E0303A"/>
          </a:solidFill>
          <a:ln w="12700">
            <a:solidFill>
              <a:srgbClr val="E0303A"/>
            </a:solidFill>
            <a:prstDash val="solid"/>
          </a:ln>
        </p:spPr>
      </p:sp>
      <p:sp>
        <p:nvSpPr>
          <p:cNvPr id="10" name="Shape 7"/>
          <p:cNvSpPr/>
          <p:nvPr/>
        </p:nvSpPr>
        <p:spPr>
          <a:xfrm>
            <a:off x="2423160" y="2011680"/>
            <a:ext cx="1691640" cy="3017520"/>
          </a:xfrm>
          <a:prstGeom prst="roundRect">
            <a:avLst>
              <a:gd name="adj" fmla="val 648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1" name="Image 1" descr="/private/tmp/claude-501/-Users-rimshachaudhary/39e555b3-5a08-4f48-ba14-96d27de05f30/scratchpad/deck/sph_2BB3A3.png">    </p:cNvPr>
          <p:cNvPicPr>
            <a:picLocks noChangeAspect="1"/>
          </p:cNvPicPr>
          <p:nvPr/>
        </p:nvPicPr>
        <p:blipFill>
          <a:blip r:embed="rId2"/>
          <a:stretch>
            <a:fillRect/>
          </a:stretch>
        </p:blipFill>
        <p:spPr>
          <a:xfrm>
            <a:off x="2862580" y="2202180"/>
            <a:ext cx="812800" cy="812800"/>
          </a:xfrm>
          <a:prstGeom prst="rect">
            <a:avLst/>
          </a:prstGeom>
        </p:spPr>
      </p:pic>
      <p:sp>
        <p:nvSpPr>
          <p:cNvPr id="12" name="Text 8"/>
          <p:cNvSpPr txBox="1"/>
          <p:nvPr/>
        </p:nvSpPr>
        <p:spPr>
          <a:xfrm>
            <a:off x="2926080" y="22402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9"/>
          <p:cNvSpPr txBox="1"/>
          <p:nvPr/>
        </p:nvSpPr>
        <p:spPr>
          <a:xfrm>
            <a:off x="2514600" y="3063240"/>
            <a:ext cx="1508760" cy="365760"/>
          </a:xfrm>
          <a:prstGeom prst="rect">
            <a:avLst/>
          </a:prstGeom>
          <a:noFill/>
          <a:ln/>
        </p:spPr>
        <p:txBody>
          <a:bodyPr wrap="square" lIns="0" tIns="0" rIns="0" bIns="0" rtlCol="0" anchor="ctr"/>
          <a:lstStyle/>
          <a:p>
            <a:pPr algn="ctr" indent="0" marL="0">
              <a:buNone/>
            </a:pPr>
            <a:r>
              <a:rPr lang="en-US" sz="1600" b="1" dirty="0">
                <a:solidFill>
                  <a:srgbClr val="F2EFE6"/>
                </a:solidFill>
                <a:latin typeface="Arial" pitchFamily="34" charset="0"/>
                <a:ea typeface="Arial" pitchFamily="34" charset="-122"/>
                <a:cs typeface="Arial" pitchFamily="34" charset="-120"/>
              </a:rPr>
              <a:t>RECON</a:t>
            </a:r>
            <a:endParaRPr lang="en-US" sz="1600" dirty="0"/>
          </a:p>
        </p:txBody>
      </p:sp>
      <p:sp>
        <p:nvSpPr>
          <p:cNvPr id="14" name="Text 10"/>
          <p:cNvSpPr txBox="1"/>
          <p:nvPr/>
        </p:nvSpPr>
        <p:spPr>
          <a:xfrm>
            <a:off x="2560320" y="3474720"/>
            <a:ext cx="1417320" cy="1463040"/>
          </a:xfrm>
          <a:prstGeom prst="rect">
            <a:avLst/>
          </a:prstGeom>
          <a:noFill/>
          <a:ln/>
        </p:spPr>
        <p:txBody>
          <a:bodyPr wrap="square" lIns="0" tIns="0" rIns="0" bIns="0" rtlCol="0" anchor="t"/>
          <a:lstStyle/>
          <a:p>
            <a:pPr algn="ctr" indent="0" marL="0">
              <a:buNone/>
            </a:pPr>
            <a:r>
              <a:rPr lang="en-US" sz="1200" dirty="0">
                <a:solidFill>
                  <a:srgbClr val="9A9486"/>
                </a:solidFill>
                <a:latin typeface="Calibri" pitchFamily="34" charset="0"/>
                <a:ea typeface="Calibri" pitchFamily="34" charset="-122"/>
                <a:cs typeface="Calibri" pitchFamily="34" charset="-120"/>
              </a:rPr>
              <a:t>Sweep search · batch-buy profiles · score notes · verify top picks.</a:t>
            </a:r>
            <a:endParaRPr lang="en-US" sz="1200" dirty="0"/>
          </a:p>
        </p:txBody>
      </p:sp>
      <p:sp>
        <p:nvSpPr>
          <p:cNvPr id="15" name="Shape 11"/>
          <p:cNvSpPr/>
          <p:nvPr/>
        </p:nvSpPr>
        <p:spPr>
          <a:xfrm>
            <a:off x="4133088" y="3291840"/>
            <a:ext cx="146304" cy="274320"/>
          </a:xfrm>
          <a:prstGeom prst="rightArrow">
            <a:avLst/>
          </a:prstGeom>
          <a:solidFill>
            <a:srgbClr val="E0303A"/>
          </a:solidFill>
          <a:ln w="12700">
            <a:solidFill>
              <a:srgbClr val="E0303A"/>
            </a:solidFill>
            <a:prstDash val="solid"/>
          </a:ln>
        </p:spPr>
      </p:sp>
      <p:sp>
        <p:nvSpPr>
          <p:cNvPr id="16" name="Shape 12"/>
          <p:cNvSpPr/>
          <p:nvPr/>
        </p:nvSpPr>
        <p:spPr>
          <a:xfrm>
            <a:off x="4297680" y="2011680"/>
            <a:ext cx="1691640" cy="3017520"/>
          </a:xfrm>
          <a:prstGeom prst="roundRect">
            <a:avLst>
              <a:gd name="adj" fmla="val 648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7" name="Image 2" descr="/private/tmp/claude-501/-Users-rimshachaudhary/39e555b3-5a08-4f48-ba14-96d27de05f30/scratchpad/deck/sph_F2B33D.png">    </p:cNvPr>
          <p:cNvPicPr>
            <a:picLocks noChangeAspect="1"/>
          </p:cNvPicPr>
          <p:nvPr/>
        </p:nvPicPr>
        <p:blipFill>
          <a:blip r:embed="rId3"/>
          <a:stretch>
            <a:fillRect/>
          </a:stretch>
        </p:blipFill>
        <p:spPr>
          <a:xfrm>
            <a:off x="4737100" y="2202180"/>
            <a:ext cx="812800" cy="812800"/>
          </a:xfrm>
          <a:prstGeom prst="rect">
            <a:avLst/>
          </a:prstGeom>
        </p:spPr>
      </p:pic>
      <p:sp>
        <p:nvSpPr>
          <p:cNvPr id="18" name="Text 13"/>
          <p:cNvSpPr txBox="1"/>
          <p:nvPr/>
        </p:nvSpPr>
        <p:spPr>
          <a:xfrm>
            <a:off x="4800600" y="22402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9" name="Text 14"/>
          <p:cNvSpPr txBox="1"/>
          <p:nvPr/>
        </p:nvSpPr>
        <p:spPr>
          <a:xfrm>
            <a:off x="4389120" y="3063240"/>
            <a:ext cx="1508760" cy="365760"/>
          </a:xfrm>
          <a:prstGeom prst="rect">
            <a:avLst/>
          </a:prstGeom>
          <a:noFill/>
          <a:ln/>
        </p:spPr>
        <p:txBody>
          <a:bodyPr wrap="square" lIns="0" tIns="0" rIns="0" bIns="0" rtlCol="0" anchor="ctr"/>
          <a:lstStyle/>
          <a:p>
            <a:pPr algn="ctr" indent="0" marL="0">
              <a:buNone/>
            </a:pPr>
            <a:r>
              <a:rPr lang="en-US" sz="1600" b="1" dirty="0">
                <a:solidFill>
                  <a:srgbClr val="F2EFE6"/>
                </a:solidFill>
                <a:latin typeface="Arial" pitchFamily="34" charset="0"/>
                <a:ea typeface="Arial" pitchFamily="34" charset="-122"/>
                <a:cs typeface="Arial" pitchFamily="34" charset="-120"/>
              </a:rPr>
              <a:t>PLAN</a:t>
            </a:r>
            <a:endParaRPr lang="en-US" sz="1600" dirty="0"/>
          </a:p>
        </p:txBody>
      </p:sp>
      <p:sp>
        <p:nvSpPr>
          <p:cNvPr id="20" name="Text 15"/>
          <p:cNvSpPr txBox="1"/>
          <p:nvPr/>
        </p:nvSpPr>
        <p:spPr>
          <a:xfrm>
            <a:off x="4434840" y="3474720"/>
            <a:ext cx="1417320" cy="1463040"/>
          </a:xfrm>
          <a:prstGeom prst="rect">
            <a:avLst/>
          </a:prstGeom>
          <a:noFill/>
          <a:ln/>
        </p:spPr>
        <p:txBody>
          <a:bodyPr wrap="square" lIns="0" tIns="0" rIns="0" bIns="0" rtlCol="0" anchor="t"/>
          <a:lstStyle/>
          <a:p>
            <a:pPr algn="ctr" indent="0" marL="0">
              <a:buNone/>
            </a:pPr>
            <a:r>
              <a:rPr lang="en-US" sz="1200" dirty="0">
                <a:solidFill>
                  <a:srgbClr val="9A9486"/>
                </a:solidFill>
                <a:latin typeface="Calibri" pitchFamily="34" charset="0"/>
                <a:ea typeface="Calibri" pitchFamily="34" charset="-122"/>
                <a:cs typeface="Calibri" pitchFamily="34" charset="-120"/>
              </a:rPr>
              <a:t>Rank every eligible person per requisition, with backups.</a:t>
            </a:r>
            <a:endParaRPr lang="en-US" sz="1200" dirty="0"/>
          </a:p>
        </p:txBody>
      </p:sp>
      <p:sp>
        <p:nvSpPr>
          <p:cNvPr id="21" name="Shape 16"/>
          <p:cNvSpPr/>
          <p:nvPr/>
        </p:nvSpPr>
        <p:spPr>
          <a:xfrm>
            <a:off x="6007608" y="3291840"/>
            <a:ext cx="146304" cy="274320"/>
          </a:xfrm>
          <a:prstGeom prst="rightArrow">
            <a:avLst/>
          </a:prstGeom>
          <a:solidFill>
            <a:srgbClr val="E0303A"/>
          </a:solidFill>
          <a:ln w="12700">
            <a:solidFill>
              <a:srgbClr val="E0303A"/>
            </a:solidFill>
            <a:prstDash val="solid"/>
          </a:ln>
        </p:spPr>
      </p:sp>
      <p:sp>
        <p:nvSpPr>
          <p:cNvPr id="22" name="Shape 17"/>
          <p:cNvSpPr/>
          <p:nvPr/>
        </p:nvSpPr>
        <p:spPr>
          <a:xfrm>
            <a:off x="6172200" y="2011680"/>
            <a:ext cx="1691640" cy="3017520"/>
          </a:xfrm>
          <a:prstGeom prst="roundRect">
            <a:avLst>
              <a:gd name="adj" fmla="val 648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23" name="Image 3" descr="/private/tmp/claude-501/-Users-rimshachaudhary/39e555b3-5a08-4f48-ba14-96d27de05f30/scratchpad/deck/sph_E0303A.png">    </p:cNvPr>
          <p:cNvPicPr>
            <a:picLocks noChangeAspect="1"/>
          </p:cNvPicPr>
          <p:nvPr/>
        </p:nvPicPr>
        <p:blipFill>
          <a:blip r:embed="rId4"/>
          <a:stretch>
            <a:fillRect/>
          </a:stretch>
        </p:blipFill>
        <p:spPr>
          <a:xfrm>
            <a:off x="6611620" y="2202180"/>
            <a:ext cx="812800" cy="812800"/>
          </a:xfrm>
          <a:prstGeom prst="rect">
            <a:avLst/>
          </a:prstGeom>
        </p:spPr>
      </p:pic>
      <p:sp>
        <p:nvSpPr>
          <p:cNvPr id="24" name="Text 18"/>
          <p:cNvSpPr txBox="1"/>
          <p:nvPr/>
        </p:nvSpPr>
        <p:spPr>
          <a:xfrm>
            <a:off x="6675120" y="22402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5" name="Text 19"/>
          <p:cNvSpPr txBox="1"/>
          <p:nvPr/>
        </p:nvSpPr>
        <p:spPr>
          <a:xfrm>
            <a:off x="6263640" y="3063240"/>
            <a:ext cx="1508760" cy="365760"/>
          </a:xfrm>
          <a:prstGeom prst="rect">
            <a:avLst/>
          </a:prstGeom>
          <a:noFill/>
          <a:ln/>
        </p:spPr>
        <p:txBody>
          <a:bodyPr wrap="square" lIns="0" tIns="0" rIns="0" bIns="0" rtlCol="0" anchor="ctr"/>
          <a:lstStyle/>
          <a:p>
            <a:pPr algn="ctr" indent="0" marL="0">
              <a:buNone/>
            </a:pPr>
            <a:r>
              <a:rPr lang="en-US" sz="1600" b="1" dirty="0">
                <a:solidFill>
                  <a:srgbClr val="F2EFE6"/>
                </a:solidFill>
                <a:latin typeface="Arial" pitchFamily="34" charset="0"/>
                <a:ea typeface="Arial" pitchFamily="34" charset="-122"/>
                <a:cs typeface="Arial" pitchFamily="34" charset="-120"/>
              </a:rPr>
              <a:t>BURST</a:t>
            </a:r>
            <a:endParaRPr lang="en-US" sz="1600" dirty="0"/>
          </a:p>
        </p:txBody>
      </p:sp>
      <p:sp>
        <p:nvSpPr>
          <p:cNvPr id="26" name="Text 20"/>
          <p:cNvSpPr txBox="1"/>
          <p:nvPr/>
        </p:nvSpPr>
        <p:spPr>
          <a:xfrm>
            <a:off x="6309360" y="3474720"/>
            <a:ext cx="1417320" cy="1463040"/>
          </a:xfrm>
          <a:prstGeom prst="rect">
            <a:avLst/>
          </a:prstGeom>
          <a:noFill/>
          <a:ln/>
        </p:spPr>
        <p:txBody>
          <a:bodyPr wrap="square" lIns="0" tIns="0" rIns="0" bIns="0" rtlCol="0" anchor="t"/>
          <a:lstStyle/>
          <a:p>
            <a:pPr algn="ctr" indent="0" marL="0">
              <a:buNone/>
            </a:pPr>
            <a:r>
              <a:rPr lang="en-US" sz="1200" dirty="0">
                <a:solidFill>
                  <a:srgbClr val="9A9486"/>
                </a:solidFill>
                <a:latin typeface="Calibri" pitchFamily="34" charset="0"/>
                <a:ea typeface="Calibri" pitchFamily="34" charset="-122"/>
                <a:cs typeface="Calibri" pitchFamily="34" charset="-120"/>
              </a:rPr>
              <a:t>Market opens → all 116 offers fire best-first in seconds.</a:t>
            </a:r>
            <a:endParaRPr lang="en-US" sz="1200" dirty="0"/>
          </a:p>
        </p:txBody>
      </p:sp>
      <p:sp>
        <p:nvSpPr>
          <p:cNvPr id="27" name="Shape 21"/>
          <p:cNvSpPr/>
          <p:nvPr/>
        </p:nvSpPr>
        <p:spPr>
          <a:xfrm>
            <a:off x="7882128" y="3291840"/>
            <a:ext cx="146304" cy="274320"/>
          </a:xfrm>
          <a:prstGeom prst="rightArrow">
            <a:avLst/>
          </a:prstGeom>
          <a:solidFill>
            <a:srgbClr val="E0303A"/>
          </a:solidFill>
          <a:ln w="12700">
            <a:solidFill>
              <a:srgbClr val="E0303A"/>
            </a:solidFill>
            <a:prstDash val="solid"/>
          </a:ln>
        </p:spPr>
      </p:sp>
      <p:sp>
        <p:nvSpPr>
          <p:cNvPr id="28" name="Shape 22"/>
          <p:cNvSpPr/>
          <p:nvPr/>
        </p:nvSpPr>
        <p:spPr>
          <a:xfrm>
            <a:off x="8046720" y="2011680"/>
            <a:ext cx="1691640" cy="3017520"/>
          </a:xfrm>
          <a:prstGeom prst="roundRect">
            <a:avLst>
              <a:gd name="adj" fmla="val 648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29" name="Image 4" descr="/private/tmp/claude-501/-Users-rimshachaudhary/39e555b3-5a08-4f48-ba14-96d27de05f30/scratchpad/deck/sph_8A7CFF.png">    </p:cNvPr>
          <p:cNvPicPr>
            <a:picLocks noChangeAspect="1"/>
          </p:cNvPicPr>
          <p:nvPr/>
        </p:nvPicPr>
        <p:blipFill>
          <a:blip r:embed="rId5"/>
          <a:stretch>
            <a:fillRect/>
          </a:stretch>
        </p:blipFill>
        <p:spPr>
          <a:xfrm>
            <a:off x="8486140" y="2202180"/>
            <a:ext cx="812800" cy="812800"/>
          </a:xfrm>
          <a:prstGeom prst="rect">
            <a:avLst/>
          </a:prstGeom>
        </p:spPr>
      </p:pic>
      <p:sp>
        <p:nvSpPr>
          <p:cNvPr id="30" name="Text 23"/>
          <p:cNvSpPr txBox="1"/>
          <p:nvPr/>
        </p:nvSpPr>
        <p:spPr>
          <a:xfrm>
            <a:off x="8549640" y="22402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1" name="Text 24"/>
          <p:cNvSpPr txBox="1"/>
          <p:nvPr/>
        </p:nvSpPr>
        <p:spPr>
          <a:xfrm>
            <a:off x="8138160" y="3063240"/>
            <a:ext cx="1508760" cy="365760"/>
          </a:xfrm>
          <a:prstGeom prst="rect">
            <a:avLst/>
          </a:prstGeom>
          <a:noFill/>
          <a:ln/>
        </p:spPr>
        <p:txBody>
          <a:bodyPr wrap="square" lIns="0" tIns="0" rIns="0" bIns="0" rtlCol="0" anchor="ctr"/>
          <a:lstStyle/>
          <a:p>
            <a:pPr algn="ctr" indent="0" marL="0">
              <a:buNone/>
            </a:pPr>
            <a:r>
              <a:rPr lang="en-US" sz="1600" b="1" dirty="0">
                <a:solidFill>
                  <a:srgbClr val="F2EFE6"/>
                </a:solidFill>
                <a:latin typeface="Arial" pitchFamily="34" charset="0"/>
                <a:ea typeface="Arial" pitchFamily="34" charset="-122"/>
                <a:cs typeface="Arial" pitchFamily="34" charset="-120"/>
              </a:rPr>
              <a:t>HOLD</a:t>
            </a:r>
            <a:endParaRPr lang="en-US" sz="1600" dirty="0"/>
          </a:p>
        </p:txBody>
      </p:sp>
      <p:sp>
        <p:nvSpPr>
          <p:cNvPr id="32" name="Text 25"/>
          <p:cNvSpPr txBox="1"/>
          <p:nvPr/>
        </p:nvSpPr>
        <p:spPr>
          <a:xfrm>
            <a:off x="8183880" y="3474720"/>
            <a:ext cx="1417320" cy="1463040"/>
          </a:xfrm>
          <a:prstGeom prst="rect">
            <a:avLst/>
          </a:prstGeom>
          <a:noFill/>
          <a:ln/>
        </p:spPr>
        <p:txBody>
          <a:bodyPr wrap="square" lIns="0" tIns="0" rIns="0" bIns="0" rtlCol="0" anchor="t"/>
          <a:lstStyle/>
          <a:p>
            <a:pPr algn="ctr" indent="0" marL="0">
              <a:buNone/>
            </a:pPr>
            <a:r>
              <a:rPr lang="en-US" sz="1200" dirty="0">
                <a:solidFill>
                  <a:srgbClr val="9A9486"/>
                </a:solidFill>
                <a:latin typeface="Calibri" pitchFamily="34" charset="0"/>
                <a:ea typeface="Calibri" pitchFamily="34" charset="-122"/>
                <a:cs typeface="Calibri" pitchFamily="34" charset="-120"/>
              </a:rPr>
              <a:t>Top up empty slots every 5 min, only if it's worth the credits.</a:t>
            </a:r>
            <a:endParaRPr lang="en-US" sz="1200" dirty="0"/>
          </a:p>
        </p:txBody>
      </p:sp>
      <p:sp>
        <p:nvSpPr>
          <p:cNvPr id="33" name="Shape 26"/>
          <p:cNvSpPr/>
          <p:nvPr/>
        </p:nvSpPr>
        <p:spPr>
          <a:xfrm>
            <a:off x="9756648" y="3291840"/>
            <a:ext cx="146304" cy="274320"/>
          </a:xfrm>
          <a:prstGeom prst="rightArrow">
            <a:avLst/>
          </a:prstGeom>
          <a:solidFill>
            <a:srgbClr val="E0303A"/>
          </a:solidFill>
          <a:ln w="12700">
            <a:solidFill>
              <a:srgbClr val="E0303A"/>
            </a:solidFill>
            <a:prstDash val="solid"/>
          </a:ln>
        </p:spPr>
      </p:sp>
      <p:sp>
        <p:nvSpPr>
          <p:cNvPr id="34" name="Shape 27"/>
          <p:cNvSpPr/>
          <p:nvPr/>
        </p:nvSpPr>
        <p:spPr>
          <a:xfrm>
            <a:off x="9921240" y="2011680"/>
            <a:ext cx="1691640" cy="3017520"/>
          </a:xfrm>
          <a:prstGeom prst="roundRect">
            <a:avLst>
              <a:gd name="adj" fmla="val 648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35" name="Image 5" descr="/private/tmp/claude-501/-Users-rimshachaudhary/39e555b3-5a08-4f48-ba14-96d27de05f30/scratchpad/deck/sph_5FA8FF.png">    </p:cNvPr>
          <p:cNvPicPr>
            <a:picLocks noChangeAspect="1"/>
          </p:cNvPicPr>
          <p:nvPr/>
        </p:nvPicPr>
        <p:blipFill>
          <a:blip r:embed="rId6"/>
          <a:stretch>
            <a:fillRect/>
          </a:stretch>
        </p:blipFill>
        <p:spPr>
          <a:xfrm>
            <a:off x="10360660" y="2202180"/>
            <a:ext cx="812800" cy="812800"/>
          </a:xfrm>
          <a:prstGeom prst="rect">
            <a:avLst/>
          </a:prstGeom>
        </p:spPr>
      </p:pic>
      <p:sp>
        <p:nvSpPr>
          <p:cNvPr id="36" name="Text 28"/>
          <p:cNvSpPr txBox="1"/>
          <p:nvPr/>
        </p:nvSpPr>
        <p:spPr>
          <a:xfrm>
            <a:off x="10424160" y="22402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7" name="Text 29"/>
          <p:cNvSpPr txBox="1"/>
          <p:nvPr/>
        </p:nvSpPr>
        <p:spPr>
          <a:xfrm>
            <a:off x="10012680" y="3063240"/>
            <a:ext cx="1508760" cy="365760"/>
          </a:xfrm>
          <a:prstGeom prst="rect">
            <a:avLst/>
          </a:prstGeom>
          <a:noFill/>
          <a:ln/>
        </p:spPr>
        <p:txBody>
          <a:bodyPr wrap="square" lIns="0" tIns="0" rIns="0" bIns="0" rtlCol="0" anchor="ctr"/>
          <a:lstStyle/>
          <a:p>
            <a:pPr algn="ctr" indent="0" marL="0">
              <a:buNone/>
            </a:pPr>
            <a:r>
              <a:rPr lang="en-US" sz="1600" b="1" dirty="0">
                <a:solidFill>
                  <a:srgbClr val="F2EFE6"/>
                </a:solidFill>
                <a:latin typeface="Arial" pitchFamily="34" charset="0"/>
                <a:ea typeface="Arial" pitchFamily="34" charset="-122"/>
                <a:cs typeface="Arial" pitchFamily="34" charset="-120"/>
              </a:rPr>
              <a:t>CLOSE</a:t>
            </a:r>
            <a:endParaRPr lang="en-US" sz="1600" dirty="0"/>
          </a:p>
        </p:txBody>
      </p:sp>
      <p:sp>
        <p:nvSpPr>
          <p:cNvPr id="38" name="Text 30"/>
          <p:cNvSpPr txBox="1"/>
          <p:nvPr/>
        </p:nvSpPr>
        <p:spPr>
          <a:xfrm>
            <a:off x="10058400" y="3474720"/>
            <a:ext cx="1417320" cy="1463040"/>
          </a:xfrm>
          <a:prstGeom prst="rect">
            <a:avLst/>
          </a:prstGeom>
          <a:noFill/>
          <a:ln/>
        </p:spPr>
        <p:txBody>
          <a:bodyPr wrap="square" lIns="0" tIns="0" rIns="0" bIns="0" rtlCol="0" anchor="t"/>
          <a:lstStyle/>
          <a:p>
            <a:pPr algn="ctr" indent="0" marL="0">
              <a:buNone/>
            </a:pPr>
            <a:r>
              <a:rPr lang="en-US" sz="1200" dirty="0">
                <a:solidFill>
                  <a:srgbClr val="9A9486"/>
                </a:solidFill>
                <a:latin typeface="Calibri" pitchFamily="34" charset="0"/>
                <a:ea typeface="Calibri" pitchFamily="34" charset="-122"/>
                <a:cs typeface="Calibri" pitchFamily="34" charset="-120"/>
              </a:rPr>
              <a:t>Closing hour: offers cost 20, rule gets stricter. Exit on real close.</a:t>
            </a:r>
            <a:endParaRPr lang="en-US" sz="1200" dirty="0"/>
          </a:p>
        </p:txBody>
      </p:sp>
      <p:sp>
        <p:nvSpPr>
          <p:cNvPr id="39" name="Shape 31"/>
          <p:cNvSpPr/>
          <p:nvPr/>
        </p:nvSpPr>
        <p:spPr>
          <a:xfrm>
            <a:off x="548640" y="5349240"/>
            <a:ext cx="11064240" cy="960120"/>
          </a:xfrm>
          <a:prstGeom prst="roundRect">
            <a:avLst>
              <a:gd name="adj" fmla="val 11429"/>
            </a:avLst>
          </a:prstGeom>
          <a:solidFill>
            <a:srgbClr val="23232B"/>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40" name="Text 32"/>
          <p:cNvSpPr txBox="1"/>
          <p:nvPr/>
        </p:nvSpPr>
        <p:spPr>
          <a:xfrm>
            <a:off x="822960" y="5349240"/>
            <a:ext cx="10607040" cy="960120"/>
          </a:xfrm>
          <a:prstGeom prst="rect">
            <a:avLst/>
          </a:prstGeom>
          <a:noFill/>
          <a:ln/>
        </p:spPr>
        <p:txBody>
          <a:bodyPr wrap="square" lIns="0" tIns="0" rIns="0" bIns="0" rtlCol="0" anchor="ctr"/>
          <a:lstStyle/>
          <a:p>
            <a:pPr indent="0" marL="0">
              <a:buNone/>
            </a:pPr>
            <a:r>
              <a:rPr lang="en-US" sz="1700" dirty="0">
                <a:solidFill>
                  <a:srgbClr val="9A9486"/>
                </a:solidFill>
                <a:latin typeface="Calibri" pitchFamily="34" charset="0"/>
                <a:ea typeface="Calibri" pitchFamily="34" charset="-122"/>
                <a:cs typeface="Calibri" pitchFamily="34" charset="-120"/>
              </a:rPr>
              <a:t>One spend rule everywhere:  </a:t>
            </a:r>
            <a:pPr indent="0" marL="0">
              <a:buNone/>
            </a:pPr>
            <a:r>
              <a:rPr lang="en-US" sz="1700" b="1" dirty="0">
                <a:solidFill>
                  <a:srgbClr val="F2EFE6"/>
                </a:solidFill>
                <a:latin typeface="Calibri" pitchFamily="34" charset="0"/>
                <a:ea typeface="Calibri" pitchFamily="34" charset="-122"/>
                <a:cs typeface="Calibri" pitchFamily="34" charset="-120"/>
              </a:rPr>
              <a:t>buy only if expected points  &gt;  credits × PENALTY_FACTOR</a:t>
            </a:r>
            <a:pPr indent="0" marL="0">
              <a:buNone/>
            </a:pPr>
            <a:r>
              <a:rPr lang="en-US" sz="1700" dirty="0">
                <a:solidFill>
                  <a:srgbClr val="9A9486"/>
                </a:solidFill>
                <a:latin typeface="Calibri" pitchFamily="34" charset="0"/>
                <a:ea typeface="Calibri" pitchFamily="34" charset="-122"/>
                <a:cs typeface="Calibri" pitchFamily="34" charset="-120"/>
              </a:rPr>
              <a:t>   + 25k hard cap</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THE FUNNEL</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From one million names to 116 signings.</a:t>
            </a:r>
            <a:endParaRPr lang="en-US" sz="3400" dirty="0"/>
          </a:p>
        </p:txBody>
      </p:sp>
      <p:pic>
        <p:nvPicPr>
          <p:cNvPr id="4" name="Image 0" descr="/private/tmp/claude-501/-Users-rimshachaudhary/39e555b3-5a08-4f48-ba14-96d27de05f30/scratchpad/deck/funnel.png">    </p:cNvPr>
          <p:cNvPicPr>
            <a:picLocks noChangeAspect="1"/>
          </p:cNvPicPr>
          <p:nvPr/>
        </p:nvPicPr>
        <p:blipFill>
          <a:blip r:embed="rId1"/>
          <a:stretch>
            <a:fillRect/>
          </a:stretch>
        </p:blipFill>
        <p:spPr>
          <a:xfrm>
            <a:off x="274320" y="1280160"/>
            <a:ext cx="6217920" cy="5084064"/>
          </a:xfrm>
          <a:prstGeom prst="rect">
            <a:avLst/>
          </a:prstGeom>
        </p:spPr>
      </p:pic>
      <p:sp>
        <p:nvSpPr>
          <p:cNvPr id="5" name="Shape 2"/>
          <p:cNvSpPr/>
          <p:nvPr/>
        </p:nvSpPr>
        <p:spPr>
          <a:xfrm>
            <a:off x="6766560" y="1554480"/>
            <a:ext cx="4846320" cy="4754880"/>
          </a:xfrm>
          <a:prstGeom prst="roundRect">
            <a:avLst>
              <a:gd name="adj" fmla="val 2308"/>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6" name="Text 3"/>
          <p:cNvSpPr txBox="1"/>
          <p:nvPr/>
        </p:nvSpPr>
        <p:spPr>
          <a:xfrm>
            <a:off x="7040880" y="1737360"/>
            <a:ext cx="4389120" cy="365760"/>
          </a:xfrm>
          <a:prstGeom prst="rect">
            <a:avLst/>
          </a:prstGeom>
          <a:noFill/>
          <a:ln/>
        </p:spPr>
        <p:txBody>
          <a:bodyPr wrap="square" lIns="0" tIns="0" rIns="0" bIns="0" rtlCol="0" anchor="ctr"/>
          <a:lstStyle/>
          <a:p>
            <a:pPr indent="0" marL="0">
              <a:buNone/>
            </a:pPr>
            <a:r>
              <a:rPr lang="en-US" sz="1800" b="1" dirty="0">
                <a:solidFill>
                  <a:srgbClr val="F2EFE6"/>
                </a:solidFill>
                <a:latin typeface="Arial" pitchFamily="34" charset="0"/>
                <a:ea typeface="Arial" pitchFamily="34" charset="-122"/>
                <a:cs typeface="Arial" pitchFamily="34" charset="-120"/>
              </a:rPr>
              <a:t>Why each step</a:t>
            </a:r>
            <a:endParaRPr lang="en-US" sz="1800" dirty="0"/>
          </a:p>
        </p:txBody>
      </p:sp>
      <p:sp>
        <p:nvSpPr>
          <p:cNvPr id="7" name="Text 4"/>
          <p:cNvSpPr txBox="1"/>
          <p:nvPr/>
        </p:nvSpPr>
        <p:spPr>
          <a:xfrm>
            <a:off x="7040880" y="2240280"/>
            <a:ext cx="4389120" cy="3931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2EFE6"/>
                </a:solidFill>
                <a:latin typeface="Calibri" pitchFamily="34" charset="0"/>
                <a:ea typeface="Calibri" pitchFamily="34" charset="-122"/>
                <a:cs typeface="Calibri" pitchFamily="34" charset="-120"/>
              </a:rPr>
              <a:t>Search is nearly free: 100 summaries per credit, so sweep wide (120 pages per role).</a:t>
            </a:r>
            <a:endParaRPr lang="en-US" sz="1400" dirty="0"/>
          </a:p>
          <a:p>
            <a:pPr marL="342900" indent="-342900">
              <a:spcAft>
                <a:spcPts val="800"/>
              </a:spcAft>
              <a:buSzPct val="100000"/>
              <a:buChar char="■"/>
            </a:pPr>
            <a:r>
              <a:rPr lang="en-US" sz="1400" dirty="0">
                <a:solidFill>
                  <a:srgbClr val="F2EFE6"/>
                </a:solidFill>
                <a:latin typeface="Calibri" pitchFamily="34" charset="0"/>
                <a:ea typeface="Calibri" pitchFamily="34" charset="-122"/>
                <a:cs typeface="Calibri" pitchFamily="34" charset="-120"/>
              </a:rPr>
              <a:t>Rank summaries locally by skill match, then buy only the best profiles, in batches of 50 at 1.2 credits each.</a:t>
            </a:r>
            <a:endParaRPr lang="en-US" sz="1400" dirty="0"/>
          </a:p>
          <a:p>
            <a:pPr marL="342900" indent="-342900">
              <a:spcAft>
                <a:spcPts val="800"/>
              </a:spcAft>
              <a:buSzPct val="100000"/>
              <a:buChar char="■"/>
            </a:pPr>
            <a:r>
              <a:rPr lang="en-US" sz="1400" dirty="0">
                <a:solidFill>
                  <a:srgbClr val="F2EFE6"/>
                </a:solidFill>
                <a:latin typeface="Calibri" pitchFamily="34" charset="0"/>
                <a:ea typeface="Calibri" pitchFamily="34" charset="-122"/>
                <a:cs typeface="Calibri" pitchFamily="34" charset="-120"/>
              </a:rPr>
              <a:t>Check the real bar on the full profile: assessment, notice ≤ 60 days, expected CTC ≤ budget.</a:t>
            </a:r>
            <a:endParaRPr lang="en-US" sz="1400" dirty="0"/>
          </a:p>
          <a:p>
            <a:pPr marL="342900" indent="-342900">
              <a:spcAft>
                <a:spcPts val="800"/>
              </a:spcAft>
              <a:buSzPct val="100000"/>
              <a:buChar char="■"/>
            </a:pPr>
            <a:r>
              <a:rPr lang="en-US" sz="1400" dirty="0">
                <a:solidFill>
                  <a:srgbClr val="F2EFE6"/>
                </a:solidFill>
                <a:latin typeface="Calibri" pitchFamily="34" charset="0"/>
                <a:ea typeface="Calibri" pitchFamily="34" charset="-122"/>
                <a:cs typeface="Calibri" pitchFamily="34" charset="-120"/>
              </a:rPr>
              <a:t>Verify top picks with /assess, the only proof against fakes.</a:t>
            </a:r>
            <a:endParaRPr lang="en-US" sz="1400" dirty="0"/>
          </a:p>
          <a:p>
            <a:pPr marL="342900" indent="-342900">
              <a:spcAft>
                <a:spcPts val="800"/>
              </a:spcAft>
              <a:buSzPct val="100000"/>
              <a:buChar char="■"/>
            </a:pPr>
            <a:r>
              <a:rPr lang="en-US" sz="1400" dirty="0">
                <a:solidFill>
                  <a:srgbClr val="F2EFE6"/>
                </a:solidFill>
                <a:latin typeface="Calibri" pitchFamily="34" charset="0"/>
                <a:ea typeface="Calibri" pitchFamily="34" charset="-122"/>
                <a:cs typeface="Calibri" pitchFamily="34" charset="-120"/>
              </a:rPr>
              <a:t>Sign the best verified person per slot. Backups wait in line.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TIMELINE</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How the day actually went.</a:t>
            </a:r>
            <a:endParaRPr lang="en-US" sz="3400" dirty="0"/>
          </a:p>
        </p:txBody>
      </p:sp>
      <p:sp>
        <p:nvSpPr>
          <p:cNvPr id="4" name="Shape 2"/>
          <p:cNvSpPr/>
          <p:nvPr/>
        </p:nvSpPr>
        <p:spPr>
          <a:xfrm>
            <a:off x="822960" y="3063240"/>
            <a:ext cx="10515600" cy="0"/>
          </a:xfrm>
          <a:prstGeom prst="line">
            <a:avLst/>
          </a:prstGeom>
          <a:noFill/>
          <a:ln w="38100">
            <a:solidFill>
              <a:srgbClr val="34343C"/>
            </a:solidFill>
            <a:prstDash val="solid"/>
          </a:ln>
        </p:spPr>
      </p:sp>
      <p:pic>
        <p:nvPicPr>
          <p:cNvPr id="5" name="Image 0" descr="/private/tmp/claude-501/-Users-rimshachaudhary/39e555b3-5a08-4f48-ba14-96d27de05f30/scratchpad/deck/sph_9A9486.png">    </p:cNvPr>
          <p:cNvPicPr>
            <a:picLocks noChangeAspect="1"/>
          </p:cNvPicPr>
          <p:nvPr/>
        </p:nvPicPr>
        <p:blipFill>
          <a:blip r:embed="rId1"/>
          <a:stretch>
            <a:fillRect/>
          </a:stretch>
        </p:blipFill>
        <p:spPr>
          <a:xfrm>
            <a:off x="1081701" y="2860040"/>
            <a:ext cx="433493" cy="433493"/>
          </a:xfrm>
          <a:prstGeom prst="rect">
            <a:avLst/>
          </a:prstGeom>
        </p:spPr>
      </p:pic>
      <p:sp>
        <p:nvSpPr>
          <p:cNvPr id="6" name="Text 3"/>
          <p:cNvSpPr txBox="1"/>
          <p:nvPr/>
        </p:nvSpPr>
        <p:spPr>
          <a:xfrm>
            <a:off x="548640" y="2240280"/>
            <a:ext cx="1508760" cy="457200"/>
          </a:xfrm>
          <a:prstGeom prst="rect">
            <a:avLst/>
          </a:prstGeom>
          <a:noFill/>
          <a:ln/>
        </p:spPr>
        <p:txBody>
          <a:bodyPr wrap="square" lIns="0" tIns="0" rIns="0" bIns="0" rtlCol="0" anchor="ctr"/>
          <a:lstStyle/>
          <a:p>
            <a:pPr algn="ctr" indent="0" marL="0">
              <a:buNone/>
            </a:pPr>
            <a:r>
              <a:rPr lang="en-US" sz="2000" b="1" dirty="0">
                <a:solidFill>
                  <a:srgbClr val="F2EFE6"/>
                </a:solidFill>
                <a:latin typeface="Arial" pitchFamily="34" charset="0"/>
                <a:ea typeface="Arial" pitchFamily="34" charset="-122"/>
                <a:cs typeface="Arial" pitchFamily="34" charset="-120"/>
              </a:rPr>
              <a:t>10:55</a:t>
            </a:r>
            <a:endParaRPr lang="en-US" sz="2000" dirty="0"/>
          </a:p>
        </p:txBody>
      </p:sp>
      <p:sp>
        <p:nvSpPr>
          <p:cNvPr id="7" name="Shape 4"/>
          <p:cNvSpPr/>
          <p:nvPr/>
        </p:nvSpPr>
        <p:spPr>
          <a:xfrm>
            <a:off x="548640" y="3566160"/>
            <a:ext cx="1508760" cy="1828800"/>
          </a:xfrm>
          <a:prstGeom prst="roundRect">
            <a:avLst>
              <a:gd name="adj" fmla="val 7273"/>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8" name="Text 5"/>
          <p:cNvSpPr txBox="1"/>
          <p:nvPr/>
        </p:nvSpPr>
        <p:spPr>
          <a:xfrm>
            <a:off x="640080" y="3703320"/>
            <a:ext cx="1325880" cy="548640"/>
          </a:xfrm>
          <a:prstGeom prst="rect">
            <a:avLst/>
          </a:prstGeom>
          <a:noFill/>
          <a:ln/>
        </p:spPr>
        <p:txBody>
          <a:bodyPr wrap="square" lIns="0" tIns="0" rIns="0" bIns="0" rtlCol="0" anchor="ctr"/>
          <a:lstStyle/>
          <a:p>
            <a:pPr algn="ctr" indent="0" marL="0">
              <a:buNone/>
            </a:pPr>
            <a:r>
              <a:rPr lang="en-US" sz="1300" b="1" dirty="0">
                <a:solidFill>
                  <a:srgbClr val="F2EFE6"/>
                </a:solidFill>
                <a:latin typeface="Arial" pitchFamily="34" charset="0"/>
                <a:ea typeface="Arial" pitchFamily="34" charset="-122"/>
                <a:cs typeface="Arial" pitchFamily="34" charset="-120"/>
              </a:rPr>
              <a:t>Format check</a:t>
            </a:r>
            <a:endParaRPr lang="en-US" sz="1300" dirty="0"/>
          </a:p>
        </p:txBody>
      </p:sp>
      <p:sp>
        <p:nvSpPr>
          <p:cNvPr id="9" name="Text 6"/>
          <p:cNvSpPr txBox="1"/>
          <p:nvPr/>
        </p:nvSpPr>
        <p:spPr>
          <a:xfrm>
            <a:off x="640080" y="4297680"/>
            <a:ext cx="1325880" cy="1554480"/>
          </a:xfrm>
          <a:prstGeom prst="rect">
            <a:avLst/>
          </a:prstGeom>
          <a:noFill/>
          <a:ln/>
        </p:spPr>
        <p:txBody>
          <a:bodyPr wrap="square" lIns="0" tIns="0" rIns="0" bIns="0" rtlCol="0" anchor="t"/>
          <a:lstStyle/>
          <a:p>
            <a:pPr algn="ctr" indent="0" marL="0">
              <a:buNone/>
            </a:pPr>
            <a:r>
              <a:rPr lang="en-US" sz="1150" dirty="0">
                <a:solidFill>
                  <a:srgbClr val="9A9486"/>
                </a:solidFill>
                <a:latin typeface="Calibri" pitchFamily="34" charset="0"/>
                <a:ea typeface="Calibri" pitchFamily="34" charset="-122"/>
                <a:cs typeface="Calibri" pitchFamily="34" charset="-120"/>
              </a:rPr>
              <a:t>7 manual calls, 31 credits, to learn real field names</a:t>
            </a:r>
            <a:endParaRPr lang="en-US" sz="1150" dirty="0"/>
          </a:p>
        </p:txBody>
      </p:sp>
      <p:pic>
        <p:nvPicPr>
          <p:cNvPr id="10" name="Image 1" descr="/private/tmp/claude-501/-Users-rimshachaudhary/39e555b3-5a08-4f48-ba14-96d27de05f30/scratchpad/deck/sph_2BB3A3.png">    </p:cNvPr>
          <p:cNvPicPr>
            <a:picLocks noChangeAspect="1"/>
          </p:cNvPicPr>
          <p:nvPr/>
        </p:nvPicPr>
        <p:blipFill>
          <a:blip r:embed="rId2"/>
          <a:stretch>
            <a:fillRect/>
          </a:stretch>
        </p:blipFill>
        <p:spPr>
          <a:xfrm>
            <a:off x="2681901" y="2860040"/>
            <a:ext cx="433493" cy="433493"/>
          </a:xfrm>
          <a:prstGeom prst="rect">
            <a:avLst/>
          </a:prstGeom>
        </p:spPr>
      </p:pic>
      <p:sp>
        <p:nvSpPr>
          <p:cNvPr id="11" name="Text 7"/>
          <p:cNvSpPr txBox="1"/>
          <p:nvPr/>
        </p:nvSpPr>
        <p:spPr>
          <a:xfrm>
            <a:off x="2148840" y="2240280"/>
            <a:ext cx="1508760" cy="457200"/>
          </a:xfrm>
          <a:prstGeom prst="rect">
            <a:avLst/>
          </a:prstGeom>
          <a:noFill/>
          <a:ln/>
        </p:spPr>
        <p:txBody>
          <a:bodyPr wrap="square" lIns="0" tIns="0" rIns="0" bIns="0" rtlCol="0" anchor="ctr"/>
          <a:lstStyle/>
          <a:p>
            <a:pPr algn="ctr" indent="0" marL="0">
              <a:buNone/>
            </a:pPr>
            <a:r>
              <a:rPr lang="en-US" sz="2000" b="1" dirty="0">
                <a:solidFill>
                  <a:srgbClr val="2BB3A3"/>
                </a:solidFill>
                <a:latin typeface="Arial" pitchFamily="34" charset="0"/>
                <a:ea typeface="Arial" pitchFamily="34" charset="-122"/>
                <a:cs typeface="Arial" pitchFamily="34" charset="-120"/>
              </a:rPr>
              <a:t>11:19</a:t>
            </a:r>
            <a:endParaRPr lang="en-US" sz="2000" dirty="0"/>
          </a:p>
        </p:txBody>
      </p:sp>
      <p:sp>
        <p:nvSpPr>
          <p:cNvPr id="12" name="Shape 8"/>
          <p:cNvSpPr/>
          <p:nvPr/>
        </p:nvSpPr>
        <p:spPr>
          <a:xfrm>
            <a:off x="2148840" y="3566160"/>
            <a:ext cx="1508760" cy="1828800"/>
          </a:xfrm>
          <a:prstGeom prst="roundRect">
            <a:avLst>
              <a:gd name="adj" fmla="val 7273"/>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3" name="Text 9"/>
          <p:cNvSpPr txBox="1"/>
          <p:nvPr/>
        </p:nvSpPr>
        <p:spPr>
          <a:xfrm>
            <a:off x="2240280" y="3703320"/>
            <a:ext cx="1325880" cy="548640"/>
          </a:xfrm>
          <a:prstGeom prst="rect">
            <a:avLst/>
          </a:prstGeom>
          <a:noFill/>
          <a:ln/>
        </p:spPr>
        <p:txBody>
          <a:bodyPr wrap="square" lIns="0" tIns="0" rIns="0" bIns="0" rtlCol="0" anchor="ctr"/>
          <a:lstStyle/>
          <a:p>
            <a:pPr algn="ctr" indent="0" marL="0">
              <a:buNone/>
            </a:pPr>
            <a:r>
              <a:rPr lang="en-US" sz="1300" b="1" dirty="0">
                <a:solidFill>
                  <a:srgbClr val="F2EFE6"/>
                </a:solidFill>
                <a:latin typeface="Arial" pitchFamily="34" charset="0"/>
                <a:ea typeface="Arial" pitchFamily="34" charset="-122"/>
                <a:cs typeface="Arial" pitchFamily="34" charset="-120"/>
              </a:rPr>
              <a:t>Agent live</a:t>
            </a:r>
            <a:endParaRPr lang="en-US" sz="1300" dirty="0"/>
          </a:p>
        </p:txBody>
      </p:sp>
      <p:sp>
        <p:nvSpPr>
          <p:cNvPr id="14" name="Text 10"/>
          <p:cNvSpPr txBox="1"/>
          <p:nvPr/>
        </p:nvSpPr>
        <p:spPr>
          <a:xfrm>
            <a:off x="2240280" y="4297680"/>
            <a:ext cx="1325880" cy="1554480"/>
          </a:xfrm>
          <a:prstGeom prst="rect">
            <a:avLst/>
          </a:prstGeom>
          <a:noFill/>
          <a:ln/>
        </p:spPr>
        <p:txBody>
          <a:bodyPr wrap="square" lIns="0" tIns="0" rIns="0" bIns="0" rtlCol="0" anchor="t"/>
          <a:lstStyle/>
          <a:p>
            <a:pPr algn="ctr" indent="0" marL="0">
              <a:buNone/>
            </a:pPr>
            <a:r>
              <a:rPr lang="en-US" sz="1150" dirty="0">
                <a:solidFill>
                  <a:srgbClr val="9A9486"/>
                </a:solidFill>
                <a:latin typeface="Calibri" pitchFamily="34" charset="0"/>
                <a:ea typeface="Calibri" pitchFamily="34" charset="-122"/>
                <a:cs typeface="Calibri" pitchFamily="34" charset="-120"/>
              </a:rPr>
              <a:t>SSL fix on macOS Python, then start</a:t>
            </a:r>
            <a:endParaRPr lang="en-US" sz="1150" dirty="0"/>
          </a:p>
        </p:txBody>
      </p:sp>
      <p:pic>
        <p:nvPicPr>
          <p:cNvPr id="15" name="Image 2" descr="/private/tmp/claude-501/-Users-rimshachaudhary/39e555b3-5a08-4f48-ba14-96d27de05f30/scratchpad/deck/sph_F2B33D.png">    </p:cNvPr>
          <p:cNvPicPr>
            <a:picLocks noChangeAspect="1"/>
          </p:cNvPicPr>
          <p:nvPr/>
        </p:nvPicPr>
        <p:blipFill>
          <a:blip r:embed="rId3"/>
          <a:stretch>
            <a:fillRect/>
          </a:stretch>
        </p:blipFill>
        <p:spPr>
          <a:xfrm>
            <a:off x="4282101" y="2860040"/>
            <a:ext cx="433493" cy="433493"/>
          </a:xfrm>
          <a:prstGeom prst="rect">
            <a:avLst/>
          </a:prstGeom>
        </p:spPr>
      </p:pic>
      <p:sp>
        <p:nvSpPr>
          <p:cNvPr id="16" name="Text 11"/>
          <p:cNvSpPr txBox="1"/>
          <p:nvPr/>
        </p:nvSpPr>
        <p:spPr>
          <a:xfrm>
            <a:off x="3749040" y="2240280"/>
            <a:ext cx="1508760" cy="457200"/>
          </a:xfrm>
          <a:prstGeom prst="rect">
            <a:avLst/>
          </a:prstGeom>
          <a:noFill/>
          <a:ln/>
        </p:spPr>
        <p:txBody>
          <a:bodyPr wrap="square" lIns="0" tIns="0" rIns="0" bIns="0" rtlCol="0" anchor="ctr"/>
          <a:lstStyle/>
          <a:p>
            <a:pPr algn="ctr" indent="0" marL="0">
              <a:buNone/>
            </a:pPr>
            <a:r>
              <a:rPr lang="en-US" sz="2000" b="1" dirty="0">
                <a:solidFill>
                  <a:srgbClr val="F2B33D"/>
                </a:solidFill>
                <a:latin typeface="Arial" pitchFamily="34" charset="0"/>
                <a:ea typeface="Arial" pitchFamily="34" charset="-122"/>
                <a:cs typeface="Arial" pitchFamily="34" charset="-120"/>
              </a:rPr>
              <a:t>11:24</a:t>
            </a:r>
            <a:endParaRPr lang="en-US" sz="2000" dirty="0"/>
          </a:p>
        </p:txBody>
      </p:sp>
      <p:sp>
        <p:nvSpPr>
          <p:cNvPr id="17" name="Shape 12"/>
          <p:cNvSpPr/>
          <p:nvPr/>
        </p:nvSpPr>
        <p:spPr>
          <a:xfrm>
            <a:off x="3749040" y="3566160"/>
            <a:ext cx="1508760" cy="1828800"/>
          </a:xfrm>
          <a:prstGeom prst="roundRect">
            <a:avLst>
              <a:gd name="adj" fmla="val 7273"/>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8" name="Text 13"/>
          <p:cNvSpPr txBox="1"/>
          <p:nvPr/>
        </p:nvSpPr>
        <p:spPr>
          <a:xfrm>
            <a:off x="3840480" y="3703320"/>
            <a:ext cx="1325880" cy="548640"/>
          </a:xfrm>
          <a:prstGeom prst="rect">
            <a:avLst/>
          </a:prstGeom>
          <a:noFill/>
          <a:ln/>
        </p:spPr>
        <p:txBody>
          <a:bodyPr wrap="square" lIns="0" tIns="0" rIns="0" bIns="0" rtlCol="0" anchor="ctr"/>
          <a:lstStyle/>
          <a:p>
            <a:pPr algn="ctr" indent="0" marL="0">
              <a:buNone/>
            </a:pPr>
            <a:r>
              <a:rPr lang="en-US" sz="1300" b="1" dirty="0">
                <a:solidFill>
                  <a:srgbClr val="F2EFE6"/>
                </a:solidFill>
                <a:latin typeface="Arial" pitchFamily="34" charset="0"/>
                <a:ea typeface="Arial" pitchFamily="34" charset="-122"/>
                <a:cs typeface="Arial" pitchFamily="34" charset="-120"/>
              </a:rPr>
              <a:t>Recon done</a:t>
            </a:r>
            <a:endParaRPr lang="en-US" sz="1300" dirty="0"/>
          </a:p>
        </p:txBody>
      </p:sp>
      <p:sp>
        <p:nvSpPr>
          <p:cNvPr id="19" name="Text 14"/>
          <p:cNvSpPr txBox="1"/>
          <p:nvPr/>
        </p:nvSpPr>
        <p:spPr>
          <a:xfrm>
            <a:off x="3840480" y="4297680"/>
            <a:ext cx="1325880" cy="1554480"/>
          </a:xfrm>
          <a:prstGeom prst="rect">
            <a:avLst/>
          </a:prstGeom>
          <a:noFill/>
          <a:ln/>
        </p:spPr>
        <p:txBody>
          <a:bodyPr wrap="square" lIns="0" tIns="0" rIns="0" bIns="0" rtlCol="0" anchor="t"/>
          <a:lstStyle/>
          <a:p>
            <a:pPr algn="ctr" indent="0" marL="0">
              <a:buNone/>
            </a:pPr>
            <a:r>
              <a:rPr lang="en-US" sz="1150" dirty="0">
                <a:solidFill>
                  <a:srgbClr val="9A9486"/>
                </a:solidFill>
                <a:latin typeface="Calibri" pitchFamily="34" charset="0"/>
                <a:ea typeface="Calibri" pitchFamily="34" charset="-122"/>
                <a:cs typeface="Calibri" pitchFamily="34" charset="-120"/>
              </a:rPr>
              <a:t>120k summaries · 4,640 profiles · 176 verified</a:t>
            </a:r>
            <a:endParaRPr lang="en-US" sz="1150" dirty="0"/>
          </a:p>
        </p:txBody>
      </p:sp>
      <p:pic>
        <p:nvPicPr>
          <p:cNvPr id="20" name="Image 3" descr="/private/tmp/claude-501/-Users-rimshachaudhary/39e555b3-5a08-4f48-ba14-96d27de05f30/scratchpad/deck/sph_E0303A.png">    </p:cNvPr>
          <p:cNvPicPr>
            <a:picLocks noChangeAspect="1"/>
          </p:cNvPicPr>
          <p:nvPr/>
        </p:nvPicPr>
        <p:blipFill>
          <a:blip r:embed="rId4"/>
          <a:stretch>
            <a:fillRect/>
          </a:stretch>
        </p:blipFill>
        <p:spPr>
          <a:xfrm>
            <a:off x="5882301" y="2860040"/>
            <a:ext cx="433493" cy="433493"/>
          </a:xfrm>
          <a:prstGeom prst="rect">
            <a:avLst/>
          </a:prstGeom>
        </p:spPr>
      </p:pic>
      <p:sp>
        <p:nvSpPr>
          <p:cNvPr id="21" name="Text 15"/>
          <p:cNvSpPr txBox="1"/>
          <p:nvPr/>
        </p:nvSpPr>
        <p:spPr>
          <a:xfrm>
            <a:off x="5349240" y="2240280"/>
            <a:ext cx="1508760" cy="457200"/>
          </a:xfrm>
          <a:prstGeom prst="rect">
            <a:avLst/>
          </a:prstGeom>
          <a:noFill/>
          <a:ln/>
        </p:spPr>
        <p:txBody>
          <a:bodyPr wrap="square" lIns="0" tIns="0" rIns="0" bIns="0" rtlCol="0" anchor="ctr"/>
          <a:lstStyle/>
          <a:p>
            <a:pPr algn="ctr" indent="0" marL="0">
              <a:buNone/>
            </a:pPr>
            <a:r>
              <a:rPr lang="en-US" sz="2000" b="1" dirty="0">
                <a:solidFill>
                  <a:srgbClr val="E0303A"/>
                </a:solidFill>
                <a:latin typeface="Arial" pitchFamily="34" charset="0"/>
                <a:ea typeface="Arial" pitchFamily="34" charset="-122"/>
                <a:cs typeface="Arial" pitchFamily="34" charset="-120"/>
              </a:rPr>
              <a:t>11:42</a:t>
            </a:r>
            <a:endParaRPr lang="en-US" sz="2000" dirty="0"/>
          </a:p>
        </p:txBody>
      </p:sp>
      <p:sp>
        <p:nvSpPr>
          <p:cNvPr id="22" name="Shape 16"/>
          <p:cNvSpPr/>
          <p:nvPr/>
        </p:nvSpPr>
        <p:spPr>
          <a:xfrm>
            <a:off x="5349240" y="3566160"/>
            <a:ext cx="1508760" cy="1828800"/>
          </a:xfrm>
          <a:prstGeom prst="roundRect">
            <a:avLst>
              <a:gd name="adj" fmla="val 7273"/>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23" name="Text 17"/>
          <p:cNvSpPr txBox="1"/>
          <p:nvPr/>
        </p:nvSpPr>
        <p:spPr>
          <a:xfrm>
            <a:off x="5440680" y="3703320"/>
            <a:ext cx="1325880" cy="548640"/>
          </a:xfrm>
          <a:prstGeom prst="rect">
            <a:avLst/>
          </a:prstGeom>
          <a:noFill/>
          <a:ln/>
        </p:spPr>
        <p:txBody>
          <a:bodyPr wrap="square" lIns="0" tIns="0" rIns="0" bIns="0" rtlCol="0" anchor="ctr"/>
          <a:lstStyle/>
          <a:p>
            <a:pPr algn="ctr" indent="0" marL="0">
              <a:buNone/>
            </a:pPr>
            <a:r>
              <a:rPr lang="en-US" sz="1300" b="1" dirty="0">
                <a:solidFill>
                  <a:srgbClr val="F2EFE6"/>
                </a:solidFill>
                <a:latin typeface="Arial" pitchFamily="34" charset="0"/>
                <a:ea typeface="Arial" pitchFamily="34" charset="-122"/>
                <a:cs typeface="Arial" pitchFamily="34" charset="-120"/>
              </a:rPr>
              <a:t>Market burst</a:t>
            </a:r>
            <a:endParaRPr lang="en-US" sz="1300" dirty="0"/>
          </a:p>
        </p:txBody>
      </p:sp>
      <p:sp>
        <p:nvSpPr>
          <p:cNvPr id="24" name="Text 18"/>
          <p:cNvSpPr txBox="1"/>
          <p:nvPr/>
        </p:nvSpPr>
        <p:spPr>
          <a:xfrm>
            <a:off x="5440680" y="4297680"/>
            <a:ext cx="1325880" cy="1554480"/>
          </a:xfrm>
          <a:prstGeom prst="rect">
            <a:avLst/>
          </a:prstGeom>
          <a:noFill/>
          <a:ln/>
        </p:spPr>
        <p:txBody>
          <a:bodyPr wrap="square" lIns="0" tIns="0" rIns="0" bIns="0" rtlCol="0" anchor="t"/>
          <a:lstStyle/>
          <a:p>
            <a:pPr algn="ctr" indent="0" marL="0">
              <a:buNone/>
            </a:pPr>
            <a:r>
              <a:rPr lang="en-US" sz="1150" dirty="0">
                <a:solidFill>
                  <a:srgbClr val="9A9486"/>
                </a:solidFill>
                <a:latin typeface="Calibri" pitchFamily="34" charset="0"/>
                <a:ea typeface="Calibri" pitchFamily="34" charset="-122"/>
                <a:cs typeface="Calibri" pitchFamily="34" charset="-120"/>
              </a:rPr>
              <a:t>116 signed in seconds, 0 rejected</a:t>
            </a:r>
            <a:endParaRPr lang="en-US" sz="1150" dirty="0"/>
          </a:p>
        </p:txBody>
      </p:sp>
      <p:pic>
        <p:nvPicPr>
          <p:cNvPr id="25" name="Image 4" descr="/private/tmp/claude-501/-Users-rimshachaudhary/39e555b3-5a08-4f48-ba14-96d27de05f30/scratchpad/deck/sph_8A7CFF.png">    </p:cNvPr>
          <p:cNvPicPr>
            <a:picLocks noChangeAspect="1"/>
          </p:cNvPicPr>
          <p:nvPr/>
        </p:nvPicPr>
        <p:blipFill>
          <a:blip r:embed="rId5"/>
          <a:stretch>
            <a:fillRect/>
          </a:stretch>
        </p:blipFill>
        <p:spPr>
          <a:xfrm>
            <a:off x="7482501" y="2860040"/>
            <a:ext cx="433493" cy="433493"/>
          </a:xfrm>
          <a:prstGeom prst="rect">
            <a:avLst/>
          </a:prstGeom>
        </p:spPr>
      </p:pic>
      <p:sp>
        <p:nvSpPr>
          <p:cNvPr id="26" name="Text 19"/>
          <p:cNvSpPr txBox="1"/>
          <p:nvPr/>
        </p:nvSpPr>
        <p:spPr>
          <a:xfrm>
            <a:off x="6949440" y="2240280"/>
            <a:ext cx="1508760" cy="457200"/>
          </a:xfrm>
          <a:prstGeom prst="rect">
            <a:avLst/>
          </a:prstGeom>
          <a:noFill/>
          <a:ln/>
        </p:spPr>
        <p:txBody>
          <a:bodyPr wrap="square" lIns="0" tIns="0" rIns="0" bIns="0" rtlCol="0" anchor="ctr"/>
          <a:lstStyle/>
          <a:p>
            <a:pPr algn="ctr" indent="0" marL="0">
              <a:buNone/>
            </a:pPr>
            <a:r>
              <a:rPr lang="en-US" sz="2000" b="1" dirty="0">
                <a:solidFill>
                  <a:srgbClr val="8A7CFF"/>
                </a:solidFill>
                <a:latin typeface="Arial" pitchFamily="34" charset="0"/>
                <a:ea typeface="Arial" pitchFamily="34" charset="-122"/>
                <a:cs typeface="Arial" pitchFamily="34" charset="-120"/>
              </a:rPr>
              <a:t>11:49</a:t>
            </a:r>
            <a:endParaRPr lang="en-US" sz="2000" dirty="0"/>
          </a:p>
        </p:txBody>
      </p:sp>
      <p:sp>
        <p:nvSpPr>
          <p:cNvPr id="27" name="Shape 20"/>
          <p:cNvSpPr/>
          <p:nvPr/>
        </p:nvSpPr>
        <p:spPr>
          <a:xfrm>
            <a:off x="6949440" y="3566160"/>
            <a:ext cx="1508760" cy="1828800"/>
          </a:xfrm>
          <a:prstGeom prst="roundRect">
            <a:avLst>
              <a:gd name="adj" fmla="val 7273"/>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28" name="Text 21"/>
          <p:cNvSpPr txBox="1"/>
          <p:nvPr/>
        </p:nvSpPr>
        <p:spPr>
          <a:xfrm>
            <a:off x="7040880" y="3703320"/>
            <a:ext cx="1325880" cy="548640"/>
          </a:xfrm>
          <a:prstGeom prst="rect">
            <a:avLst/>
          </a:prstGeom>
          <a:noFill/>
          <a:ln/>
        </p:spPr>
        <p:txBody>
          <a:bodyPr wrap="square" lIns="0" tIns="0" rIns="0" bIns="0" rtlCol="0" anchor="ctr"/>
          <a:lstStyle/>
          <a:p>
            <a:pPr algn="ctr" indent="0" marL="0">
              <a:buNone/>
            </a:pPr>
            <a:r>
              <a:rPr lang="en-US" sz="1300" b="1" dirty="0">
                <a:solidFill>
                  <a:srgbClr val="F2EFE6"/>
                </a:solidFill>
                <a:latin typeface="Arial" pitchFamily="34" charset="0"/>
                <a:ea typeface="Arial" pitchFamily="34" charset="-122"/>
                <a:cs typeface="Arial" pitchFamily="34" charset="-120"/>
              </a:rPr>
              <a:t>Pause glitch</a:t>
            </a:r>
            <a:endParaRPr lang="en-US" sz="1300" dirty="0"/>
          </a:p>
        </p:txBody>
      </p:sp>
      <p:sp>
        <p:nvSpPr>
          <p:cNvPr id="29" name="Text 22"/>
          <p:cNvSpPr txBox="1"/>
          <p:nvPr/>
        </p:nvSpPr>
        <p:spPr>
          <a:xfrm>
            <a:off x="7040880" y="4297680"/>
            <a:ext cx="1325880" cy="1554480"/>
          </a:xfrm>
          <a:prstGeom prst="rect">
            <a:avLst/>
          </a:prstGeom>
          <a:noFill/>
          <a:ln/>
        </p:spPr>
        <p:txBody>
          <a:bodyPr wrap="square" lIns="0" tIns="0" rIns="0" bIns="0" rtlCol="0" anchor="t"/>
          <a:lstStyle/>
          <a:p>
            <a:pPr algn="ctr" indent="0" marL="0">
              <a:buNone/>
            </a:pPr>
            <a:r>
              <a:rPr lang="en-US" sz="1150" dirty="0">
                <a:solidFill>
                  <a:srgbClr val="9A9486"/>
                </a:solidFill>
                <a:latin typeface="Calibri" pitchFamily="34" charset="0"/>
                <a:ea typeface="Calibri" pitchFamily="34" charset="-122"/>
                <a:cs typeface="Calibri" pitchFamily="34" charset="-120"/>
              </a:rPr>
              <a:t>Server said 'closed'; agent exited, signings safe</a:t>
            </a:r>
            <a:endParaRPr lang="en-US" sz="1150" dirty="0"/>
          </a:p>
        </p:txBody>
      </p:sp>
      <p:pic>
        <p:nvPicPr>
          <p:cNvPr id="30" name="Image 5" descr="/private/tmp/claude-501/-Users-rimshachaudhary/39e555b3-5a08-4f48-ba14-96d27de05f30/scratchpad/deck/sph_5FA8FF.png">    </p:cNvPr>
          <p:cNvPicPr>
            <a:picLocks noChangeAspect="1"/>
          </p:cNvPicPr>
          <p:nvPr/>
        </p:nvPicPr>
        <p:blipFill>
          <a:blip r:embed="rId6"/>
          <a:stretch>
            <a:fillRect/>
          </a:stretch>
        </p:blipFill>
        <p:spPr>
          <a:xfrm>
            <a:off x="9082701" y="2860040"/>
            <a:ext cx="433493" cy="433493"/>
          </a:xfrm>
          <a:prstGeom prst="rect">
            <a:avLst/>
          </a:prstGeom>
        </p:spPr>
      </p:pic>
      <p:sp>
        <p:nvSpPr>
          <p:cNvPr id="31" name="Text 23"/>
          <p:cNvSpPr txBox="1"/>
          <p:nvPr/>
        </p:nvSpPr>
        <p:spPr>
          <a:xfrm>
            <a:off x="8549640" y="2240280"/>
            <a:ext cx="1508760" cy="457200"/>
          </a:xfrm>
          <a:prstGeom prst="rect">
            <a:avLst/>
          </a:prstGeom>
          <a:noFill/>
          <a:ln/>
        </p:spPr>
        <p:txBody>
          <a:bodyPr wrap="square" lIns="0" tIns="0" rIns="0" bIns="0" rtlCol="0" anchor="ctr"/>
          <a:lstStyle/>
          <a:p>
            <a:pPr algn="ctr" indent="0" marL="0">
              <a:buNone/>
            </a:pPr>
            <a:r>
              <a:rPr lang="en-US" sz="2000" b="1" dirty="0">
                <a:solidFill>
                  <a:srgbClr val="5FA8FF"/>
                </a:solidFill>
                <a:latin typeface="Arial" pitchFamily="34" charset="0"/>
                <a:ea typeface="Arial" pitchFamily="34" charset="-122"/>
                <a:cs typeface="Arial" pitchFamily="34" charset="-120"/>
              </a:rPr>
              <a:t>12:01</a:t>
            </a:r>
            <a:endParaRPr lang="en-US" sz="2000" dirty="0"/>
          </a:p>
        </p:txBody>
      </p:sp>
      <p:sp>
        <p:nvSpPr>
          <p:cNvPr id="32" name="Shape 24"/>
          <p:cNvSpPr/>
          <p:nvPr/>
        </p:nvSpPr>
        <p:spPr>
          <a:xfrm>
            <a:off x="8549640" y="3566160"/>
            <a:ext cx="1508760" cy="1828800"/>
          </a:xfrm>
          <a:prstGeom prst="roundRect">
            <a:avLst>
              <a:gd name="adj" fmla="val 7273"/>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33" name="Text 25"/>
          <p:cNvSpPr txBox="1"/>
          <p:nvPr/>
        </p:nvSpPr>
        <p:spPr>
          <a:xfrm>
            <a:off x="8641080" y="3703320"/>
            <a:ext cx="1325880" cy="548640"/>
          </a:xfrm>
          <a:prstGeom prst="rect">
            <a:avLst/>
          </a:prstGeom>
          <a:noFill/>
          <a:ln/>
        </p:spPr>
        <p:txBody>
          <a:bodyPr wrap="square" lIns="0" tIns="0" rIns="0" bIns="0" rtlCol="0" anchor="ctr"/>
          <a:lstStyle/>
          <a:p>
            <a:pPr algn="ctr" indent="0" marL="0">
              <a:buNone/>
            </a:pPr>
            <a:r>
              <a:rPr lang="en-US" sz="1300" b="1" dirty="0">
                <a:solidFill>
                  <a:srgbClr val="F2EFE6"/>
                </a:solidFill>
                <a:latin typeface="Arial" pitchFamily="34" charset="0"/>
                <a:ea typeface="Arial" pitchFamily="34" charset="-122"/>
                <a:cs typeface="Arial" pitchFamily="34" charset="-120"/>
              </a:rPr>
              <a:t>Fix + resume</a:t>
            </a:r>
            <a:endParaRPr lang="en-US" sz="1300" dirty="0"/>
          </a:p>
        </p:txBody>
      </p:sp>
      <p:sp>
        <p:nvSpPr>
          <p:cNvPr id="34" name="Text 26"/>
          <p:cNvSpPr txBox="1"/>
          <p:nvPr/>
        </p:nvSpPr>
        <p:spPr>
          <a:xfrm>
            <a:off x="8641080" y="4297680"/>
            <a:ext cx="1325880" cy="1554480"/>
          </a:xfrm>
          <a:prstGeom prst="rect">
            <a:avLst/>
          </a:prstGeom>
          <a:noFill/>
          <a:ln/>
        </p:spPr>
        <p:txBody>
          <a:bodyPr wrap="square" lIns="0" tIns="0" rIns="0" bIns="0" rtlCol="0" anchor="t"/>
          <a:lstStyle/>
          <a:p>
            <a:pPr algn="ctr" indent="0" marL="0">
              <a:buNone/>
            </a:pPr>
            <a:r>
              <a:rPr lang="en-US" sz="1150" dirty="0">
                <a:solidFill>
                  <a:srgbClr val="9A9486"/>
                </a:solidFill>
                <a:latin typeface="Calibri" pitchFamily="34" charset="0"/>
                <a:ea typeface="Calibri" pitchFamily="34" charset="-122"/>
                <a:cs typeface="Calibri" pitchFamily="34" charset="-120"/>
              </a:rPr>
              <a:t>Exit only after closing phase; no re-buying</a:t>
            </a:r>
            <a:endParaRPr lang="en-US" sz="1150" dirty="0"/>
          </a:p>
        </p:txBody>
      </p:sp>
      <p:pic>
        <p:nvPicPr>
          <p:cNvPr id="35" name="Image 6" descr="/private/tmp/claude-501/-Users-rimshachaudhary/39e555b3-5a08-4f48-ba14-96d27de05f30/scratchpad/deck/sph_E0303A.png">    </p:cNvPr>
          <p:cNvPicPr>
            <a:picLocks noChangeAspect="1"/>
          </p:cNvPicPr>
          <p:nvPr/>
        </p:nvPicPr>
        <p:blipFill>
          <a:blip r:embed="rId7"/>
          <a:stretch>
            <a:fillRect/>
          </a:stretch>
        </p:blipFill>
        <p:spPr>
          <a:xfrm>
            <a:off x="10682901" y="2860040"/>
            <a:ext cx="433493" cy="433493"/>
          </a:xfrm>
          <a:prstGeom prst="rect">
            <a:avLst/>
          </a:prstGeom>
        </p:spPr>
      </p:pic>
      <p:sp>
        <p:nvSpPr>
          <p:cNvPr id="36" name="Text 27"/>
          <p:cNvSpPr txBox="1"/>
          <p:nvPr/>
        </p:nvSpPr>
        <p:spPr>
          <a:xfrm>
            <a:off x="10149840" y="2240280"/>
            <a:ext cx="1508760" cy="457200"/>
          </a:xfrm>
          <a:prstGeom prst="rect">
            <a:avLst/>
          </a:prstGeom>
          <a:noFill/>
          <a:ln/>
        </p:spPr>
        <p:txBody>
          <a:bodyPr wrap="square" lIns="0" tIns="0" rIns="0" bIns="0" rtlCol="0" anchor="ctr"/>
          <a:lstStyle/>
          <a:p>
            <a:pPr algn="ctr" indent="0" marL="0">
              <a:buNone/>
            </a:pPr>
            <a:r>
              <a:rPr lang="en-US" sz="2000" b="1" dirty="0">
                <a:solidFill>
                  <a:srgbClr val="E0303A"/>
                </a:solidFill>
                <a:latin typeface="Arial" pitchFamily="34" charset="0"/>
                <a:ea typeface="Arial" pitchFamily="34" charset="-122"/>
                <a:cs typeface="Arial" pitchFamily="34" charset="-120"/>
              </a:rPr>
              <a:t>17:01</a:t>
            </a:r>
            <a:endParaRPr lang="en-US" sz="2000" dirty="0"/>
          </a:p>
        </p:txBody>
      </p:sp>
      <p:sp>
        <p:nvSpPr>
          <p:cNvPr id="37" name="Shape 28"/>
          <p:cNvSpPr/>
          <p:nvPr/>
        </p:nvSpPr>
        <p:spPr>
          <a:xfrm>
            <a:off x="10149840" y="3566160"/>
            <a:ext cx="1508760" cy="1828800"/>
          </a:xfrm>
          <a:prstGeom prst="roundRect">
            <a:avLst>
              <a:gd name="adj" fmla="val 7273"/>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38" name="Text 29"/>
          <p:cNvSpPr txBox="1"/>
          <p:nvPr/>
        </p:nvSpPr>
        <p:spPr>
          <a:xfrm>
            <a:off x="10241280" y="3703320"/>
            <a:ext cx="1325880" cy="548640"/>
          </a:xfrm>
          <a:prstGeom prst="rect">
            <a:avLst/>
          </a:prstGeom>
          <a:noFill/>
          <a:ln/>
        </p:spPr>
        <p:txBody>
          <a:bodyPr wrap="square" lIns="0" tIns="0" rIns="0" bIns="0" rtlCol="0" anchor="ctr"/>
          <a:lstStyle/>
          <a:p>
            <a:pPr algn="ctr" indent="0" marL="0">
              <a:buNone/>
            </a:pPr>
            <a:r>
              <a:rPr lang="en-US" sz="1300" b="1" dirty="0">
                <a:solidFill>
                  <a:srgbClr val="F2EFE6"/>
                </a:solidFill>
                <a:latin typeface="Arial" pitchFamily="34" charset="0"/>
                <a:ea typeface="Arial" pitchFamily="34" charset="-122"/>
                <a:cs typeface="Arial" pitchFamily="34" charset="-120"/>
              </a:rPr>
              <a:t>Arena closed</a:t>
            </a:r>
            <a:endParaRPr lang="en-US" sz="1300" dirty="0"/>
          </a:p>
        </p:txBody>
      </p:sp>
      <p:sp>
        <p:nvSpPr>
          <p:cNvPr id="39" name="Text 30"/>
          <p:cNvSpPr txBox="1"/>
          <p:nvPr/>
        </p:nvSpPr>
        <p:spPr>
          <a:xfrm>
            <a:off x="10241280" y="4297680"/>
            <a:ext cx="1325880" cy="1554480"/>
          </a:xfrm>
          <a:prstGeom prst="rect">
            <a:avLst/>
          </a:prstGeom>
          <a:noFill/>
          <a:ln/>
        </p:spPr>
        <p:txBody>
          <a:bodyPr wrap="square" lIns="0" tIns="0" rIns="0" bIns="0" rtlCol="0" anchor="t"/>
          <a:lstStyle/>
          <a:p>
            <a:pPr algn="ctr" indent="0" marL="0">
              <a:buNone/>
            </a:pPr>
            <a:r>
              <a:rPr lang="en-US" sz="1150" dirty="0">
                <a:solidFill>
                  <a:srgbClr val="9A9486"/>
                </a:solidFill>
                <a:latin typeface="Calibri" pitchFamily="34" charset="0"/>
                <a:ea typeface="Calibri" pitchFamily="34" charset="-122"/>
                <a:cs typeface="Calibri" pitchFamily="34" charset="-120"/>
              </a:rPr>
              <a:t>Final ledger 2,494 pts · score 1,827.3</a:t>
            </a:r>
            <a:endParaRPr lang="en-US" sz="1150" dirty="0"/>
          </a:p>
        </p:txBody>
      </p:sp>
      <p:sp>
        <p:nvSpPr>
          <p:cNvPr id="40" name="Text 31"/>
          <p:cNvSpPr txBox="1"/>
          <p:nvPr/>
        </p:nvSpPr>
        <p:spPr>
          <a:xfrm>
            <a:off x="548640" y="5760720"/>
            <a:ext cx="11064240" cy="320040"/>
          </a:xfrm>
          <a:prstGeom prst="rect">
            <a:avLst/>
          </a:prstGeom>
          <a:noFill/>
          <a:ln/>
        </p:spPr>
        <p:txBody>
          <a:bodyPr wrap="square" lIns="0" tIns="0" rIns="0" bIns="0" rtlCol="0" anchor="ctr"/>
          <a:lstStyle/>
          <a:p>
            <a:pPr indent="0" marL="0">
              <a:buNone/>
            </a:pPr>
            <a:r>
              <a:rPr lang="en-US" sz="1300" i="1" dirty="0">
                <a:solidFill>
                  <a:srgbClr val="9A9486"/>
                </a:solidFill>
                <a:latin typeface="Calibri" pitchFamily="34" charset="0"/>
                <a:ea typeface="Calibri" pitchFamily="34" charset="-122"/>
                <a:cs typeface="Calibri" pitchFamily="34" charset="-120"/>
              </a:rPr>
              <a:t>The market opened ~12 minutes late (planned 11:30). The agent simply kept polling and fired the moment it opened.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CREDIT ECONOMICS</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Where 13,334 credits went, and why it paid.</a:t>
            </a:r>
            <a:endParaRPr lang="en-US" sz="3400" dirty="0"/>
          </a:p>
        </p:txBody>
      </p:sp>
      <p:sp>
        <p:nvSpPr>
          <p:cNvPr id="4" name="Shape 2"/>
          <p:cNvSpPr/>
          <p:nvPr/>
        </p:nvSpPr>
        <p:spPr>
          <a:xfrm>
            <a:off x="548640" y="1600200"/>
            <a:ext cx="5577840" cy="4754880"/>
          </a:xfrm>
          <a:prstGeom prst="roundRect">
            <a:avLst>
              <a:gd name="adj" fmla="val 2308"/>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5" name="Image 0" descr="/private/tmp/claude-501/-Users-rimshachaudhary/39e555b3-5a08-4f48-ba14-96d27de05f30/scratchpad/deck/c_credits.png">    </p:cNvPr>
          <p:cNvPicPr>
            <a:picLocks noChangeAspect="1"/>
          </p:cNvPicPr>
          <p:nvPr/>
        </p:nvPicPr>
        <p:blipFill>
          <a:blip r:embed="rId1"/>
          <a:stretch>
            <a:fillRect/>
          </a:stretch>
        </p:blipFill>
        <p:spPr>
          <a:xfrm>
            <a:off x="731520" y="2194560"/>
            <a:ext cx="5212080" cy="3557016"/>
          </a:xfrm>
          <a:prstGeom prst="rect">
            <a:avLst/>
          </a:prstGeom>
        </p:spPr>
      </p:pic>
      <p:sp>
        <p:nvSpPr>
          <p:cNvPr id="6" name="Text 3"/>
          <p:cNvSpPr txBox="1"/>
          <p:nvPr/>
        </p:nvSpPr>
        <p:spPr>
          <a:xfrm>
            <a:off x="6492240" y="1691640"/>
            <a:ext cx="5120640" cy="365760"/>
          </a:xfrm>
          <a:prstGeom prst="rect">
            <a:avLst/>
          </a:prstGeom>
          <a:noFill/>
          <a:ln/>
        </p:spPr>
        <p:txBody>
          <a:bodyPr wrap="square" lIns="0" tIns="0" rIns="0" bIns="0" rtlCol="0" anchor="ctr"/>
          <a:lstStyle/>
          <a:p>
            <a:pPr indent="0" marL="0">
              <a:buNone/>
            </a:pPr>
            <a:r>
              <a:rPr lang="en-US" sz="1800" b="1" dirty="0">
                <a:solidFill>
                  <a:srgbClr val="F2EFE6"/>
                </a:solidFill>
                <a:latin typeface="Arial" pitchFamily="34" charset="0"/>
                <a:ea typeface="Arial" pitchFamily="34" charset="-122"/>
                <a:cs typeface="Arial" pitchFamily="34" charset="-120"/>
              </a:rPr>
              <a:t>Cost in points, at penalty 0.05</a:t>
            </a:r>
            <a:endParaRPr lang="en-US" sz="1800" dirty="0"/>
          </a:p>
        </p:txBody>
      </p:sp>
      <p:sp>
        <p:nvSpPr>
          <p:cNvPr id="7" name="Shape 4"/>
          <p:cNvSpPr/>
          <p:nvPr/>
        </p:nvSpPr>
        <p:spPr>
          <a:xfrm>
            <a:off x="6492240" y="2194560"/>
            <a:ext cx="5120640" cy="640080"/>
          </a:xfrm>
          <a:prstGeom prst="roundRect">
            <a:avLst>
              <a:gd name="adj" fmla="val 17143"/>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8" name="Text 5"/>
          <p:cNvSpPr txBox="1"/>
          <p:nvPr/>
        </p:nvSpPr>
        <p:spPr>
          <a:xfrm>
            <a:off x="6720840" y="2194560"/>
            <a:ext cx="3108960" cy="640080"/>
          </a:xfrm>
          <a:prstGeom prst="rect">
            <a:avLst/>
          </a:prstGeom>
          <a:noFill/>
          <a:ln/>
        </p:spPr>
        <p:txBody>
          <a:bodyPr wrap="square" lIns="0" tIns="0" rIns="0" bIns="0" rtlCol="0" anchor="ctr"/>
          <a:lstStyle/>
          <a:p>
            <a:pPr indent="0" marL="0">
              <a:buNone/>
            </a:pPr>
            <a:r>
              <a:rPr lang="en-US" sz="1500" dirty="0">
                <a:solidFill>
                  <a:srgbClr val="F2EFE6"/>
                </a:solidFill>
                <a:latin typeface="Calibri" pitchFamily="34" charset="0"/>
                <a:ea typeface="Calibri" pitchFamily="34" charset="-122"/>
                <a:cs typeface="Calibri" pitchFamily="34" charset="-120"/>
              </a:rPr>
              <a:t>1 profile (batch)</a:t>
            </a:r>
            <a:endParaRPr lang="en-US" sz="1500" dirty="0"/>
          </a:p>
        </p:txBody>
      </p:sp>
      <p:sp>
        <p:nvSpPr>
          <p:cNvPr id="9" name="Text 6"/>
          <p:cNvSpPr txBox="1"/>
          <p:nvPr/>
        </p:nvSpPr>
        <p:spPr>
          <a:xfrm>
            <a:off x="9692640" y="2194560"/>
            <a:ext cx="1737360" cy="640080"/>
          </a:xfrm>
          <a:prstGeom prst="rect">
            <a:avLst/>
          </a:prstGeom>
          <a:noFill/>
          <a:ln/>
        </p:spPr>
        <p:txBody>
          <a:bodyPr wrap="square" lIns="0" tIns="0" rIns="0" bIns="0" rtlCol="0" anchor="ctr"/>
          <a:lstStyle/>
          <a:p>
            <a:pPr algn="r" indent="0" marL="0">
              <a:buNone/>
            </a:pPr>
            <a:r>
              <a:rPr lang="en-US" sz="1800" b="1" dirty="0">
                <a:solidFill>
                  <a:srgbClr val="FFFFFF"/>
                </a:solidFill>
                <a:latin typeface="Arial" pitchFamily="34" charset="0"/>
                <a:ea typeface="Arial" pitchFamily="34" charset="-122"/>
                <a:cs typeface="Arial" pitchFamily="34" charset="-120"/>
              </a:rPr>
              <a:t>0.06 pts</a:t>
            </a:r>
            <a:endParaRPr lang="en-US" sz="1800" dirty="0"/>
          </a:p>
        </p:txBody>
      </p:sp>
      <p:sp>
        <p:nvSpPr>
          <p:cNvPr id="10" name="Shape 7"/>
          <p:cNvSpPr/>
          <p:nvPr/>
        </p:nvSpPr>
        <p:spPr>
          <a:xfrm>
            <a:off x="6492240" y="2971800"/>
            <a:ext cx="5120640" cy="640080"/>
          </a:xfrm>
          <a:prstGeom prst="roundRect">
            <a:avLst>
              <a:gd name="adj" fmla="val 17143"/>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1" name="Text 8"/>
          <p:cNvSpPr txBox="1"/>
          <p:nvPr/>
        </p:nvSpPr>
        <p:spPr>
          <a:xfrm>
            <a:off x="6720840" y="2971800"/>
            <a:ext cx="3108960" cy="640080"/>
          </a:xfrm>
          <a:prstGeom prst="rect">
            <a:avLst/>
          </a:prstGeom>
          <a:noFill/>
          <a:ln/>
        </p:spPr>
        <p:txBody>
          <a:bodyPr wrap="square" lIns="0" tIns="0" rIns="0" bIns="0" rtlCol="0" anchor="ctr"/>
          <a:lstStyle/>
          <a:p>
            <a:pPr indent="0" marL="0">
              <a:buNone/>
            </a:pPr>
            <a:r>
              <a:rPr lang="en-US" sz="1500" dirty="0">
                <a:solidFill>
                  <a:srgbClr val="F2EFE6"/>
                </a:solidFill>
                <a:latin typeface="Calibri" pitchFamily="34" charset="0"/>
                <a:ea typeface="Calibri" pitchFamily="34" charset="-122"/>
                <a:cs typeface="Calibri" pitchFamily="34" charset="-120"/>
              </a:rPr>
              <a:t>1 verified assessment</a:t>
            </a:r>
            <a:endParaRPr lang="en-US" sz="1500" dirty="0"/>
          </a:p>
        </p:txBody>
      </p:sp>
      <p:sp>
        <p:nvSpPr>
          <p:cNvPr id="12" name="Text 9"/>
          <p:cNvSpPr txBox="1"/>
          <p:nvPr/>
        </p:nvSpPr>
        <p:spPr>
          <a:xfrm>
            <a:off x="9692640" y="2971800"/>
            <a:ext cx="1737360" cy="640080"/>
          </a:xfrm>
          <a:prstGeom prst="rect">
            <a:avLst/>
          </a:prstGeom>
          <a:noFill/>
          <a:ln/>
        </p:spPr>
        <p:txBody>
          <a:bodyPr wrap="square" lIns="0" tIns="0" rIns="0" bIns="0" rtlCol="0" anchor="ctr"/>
          <a:lstStyle/>
          <a:p>
            <a:pPr algn="r" indent="0" marL="0">
              <a:buNone/>
            </a:pPr>
            <a:r>
              <a:rPr lang="en-US" sz="1800" b="1" dirty="0">
                <a:solidFill>
                  <a:srgbClr val="FFFFFF"/>
                </a:solidFill>
                <a:latin typeface="Arial" pitchFamily="34" charset="0"/>
                <a:ea typeface="Arial" pitchFamily="34" charset="-122"/>
                <a:cs typeface="Arial" pitchFamily="34" charset="-120"/>
              </a:rPr>
              <a:t>1.25 pts</a:t>
            </a:r>
            <a:endParaRPr lang="en-US" sz="1800" dirty="0"/>
          </a:p>
        </p:txBody>
      </p:sp>
      <p:sp>
        <p:nvSpPr>
          <p:cNvPr id="13" name="Shape 10"/>
          <p:cNvSpPr/>
          <p:nvPr/>
        </p:nvSpPr>
        <p:spPr>
          <a:xfrm>
            <a:off x="6492240" y="3749040"/>
            <a:ext cx="5120640" cy="640080"/>
          </a:xfrm>
          <a:prstGeom prst="roundRect">
            <a:avLst>
              <a:gd name="adj" fmla="val 17143"/>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4" name="Text 11"/>
          <p:cNvSpPr txBox="1"/>
          <p:nvPr/>
        </p:nvSpPr>
        <p:spPr>
          <a:xfrm>
            <a:off x="6720840" y="3749040"/>
            <a:ext cx="3108960" cy="640080"/>
          </a:xfrm>
          <a:prstGeom prst="rect">
            <a:avLst/>
          </a:prstGeom>
          <a:noFill/>
          <a:ln/>
        </p:spPr>
        <p:txBody>
          <a:bodyPr wrap="square" lIns="0" tIns="0" rIns="0" bIns="0" rtlCol="0" anchor="ctr"/>
          <a:lstStyle/>
          <a:p>
            <a:pPr indent="0" marL="0">
              <a:buNone/>
            </a:pPr>
            <a:r>
              <a:rPr lang="en-US" sz="1500" dirty="0">
                <a:solidFill>
                  <a:srgbClr val="F2EFE6"/>
                </a:solidFill>
                <a:latin typeface="Calibri" pitchFamily="34" charset="0"/>
                <a:ea typeface="Calibri" pitchFamily="34" charset="-122"/>
                <a:cs typeface="Calibri" pitchFamily="34" charset="-120"/>
              </a:rPr>
              <a:t>1 offer</a:t>
            </a:r>
            <a:endParaRPr lang="en-US" sz="1500" dirty="0"/>
          </a:p>
        </p:txBody>
      </p:sp>
      <p:sp>
        <p:nvSpPr>
          <p:cNvPr id="15" name="Text 12"/>
          <p:cNvSpPr txBox="1"/>
          <p:nvPr/>
        </p:nvSpPr>
        <p:spPr>
          <a:xfrm>
            <a:off x="9692640" y="3749040"/>
            <a:ext cx="1737360" cy="640080"/>
          </a:xfrm>
          <a:prstGeom prst="rect">
            <a:avLst/>
          </a:prstGeom>
          <a:noFill/>
          <a:ln/>
        </p:spPr>
        <p:txBody>
          <a:bodyPr wrap="square" lIns="0" tIns="0" rIns="0" bIns="0" rtlCol="0" anchor="ctr"/>
          <a:lstStyle/>
          <a:p>
            <a:pPr algn="r" indent="0" marL="0">
              <a:buNone/>
            </a:pPr>
            <a:r>
              <a:rPr lang="en-US" sz="1800" b="1" dirty="0">
                <a:solidFill>
                  <a:srgbClr val="FFFFFF"/>
                </a:solidFill>
                <a:latin typeface="Arial" pitchFamily="34" charset="0"/>
                <a:ea typeface="Arial" pitchFamily="34" charset="-122"/>
                <a:cs typeface="Arial" pitchFamily="34" charset="-120"/>
              </a:rPr>
              <a:t>0.5 pts</a:t>
            </a:r>
            <a:endParaRPr lang="en-US" sz="1800" dirty="0"/>
          </a:p>
        </p:txBody>
      </p:sp>
      <p:sp>
        <p:nvSpPr>
          <p:cNvPr id="16" name="Shape 13"/>
          <p:cNvSpPr/>
          <p:nvPr/>
        </p:nvSpPr>
        <p:spPr>
          <a:xfrm>
            <a:off x="6492240" y="4526280"/>
            <a:ext cx="5120640" cy="640080"/>
          </a:xfrm>
          <a:prstGeom prst="roundRect">
            <a:avLst>
              <a:gd name="adj" fmla="val 17143"/>
            </a:avLst>
          </a:prstGeom>
          <a:solidFill>
            <a:srgbClr val="E0303A"/>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7" name="Text 14"/>
          <p:cNvSpPr txBox="1"/>
          <p:nvPr/>
        </p:nvSpPr>
        <p:spPr>
          <a:xfrm>
            <a:off x="6720840" y="4526280"/>
            <a:ext cx="3108960" cy="640080"/>
          </a:xfrm>
          <a:prstGeom prst="rect">
            <a:avLst/>
          </a:prstGeom>
          <a:noFill/>
          <a:ln/>
        </p:spPr>
        <p:txBody>
          <a:bodyPr wrap="square" lIns="0" tIns="0" rIns="0" bIns="0" rtlCol="0" anchor="ctr"/>
          <a:lstStyle/>
          <a:p>
            <a:pPr indent="0" marL="0">
              <a:buNone/>
            </a:pPr>
            <a:r>
              <a:rPr lang="en-US" sz="1500" dirty="0">
                <a:solidFill>
                  <a:srgbClr val="F2EFE6"/>
                </a:solidFill>
                <a:latin typeface="Calibri" pitchFamily="34" charset="0"/>
                <a:ea typeface="Calibri" pitchFamily="34" charset="-122"/>
                <a:cs typeface="Calibri" pitchFamily="34" charset="-120"/>
              </a:rPr>
              <a:t>1 signing earned</a:t>
            </a:r>
            <a:endParaRPr lang="en-US" sz="1500" dirty="0"/>
          </a:p>
        </p:txBody>
      </p:sp>
      <p:sp>
        <p:nvSpPr>
          <p:cNvPr id="18" name="Text 15"/>
          <p:cNvSpPr txBox="1"/>
          <p:nvPr/>
        </p:nvSpPr>
        <p:spPr>
          <a:xfrm>
            <a:off x="9692640" y="4526280"/>
            <a:ext cx="1737360" cy="640080"/>
          </a:xfrm>
          <a:prstGeom prst="rect">
            <a:avLst/>
          </a:prstGeom>
          <a:noFill/>
          <a:ln/>
        </p:spPr>
        <p:txBody>
          <a:bodyPr wrap="square" lIns="0" tIns="0" rIns="0" bIns="0" rtlCol="0" anchor="ctr"/>
          <a:lstStyle/>
          <a:p>
            <a:pPr algn="r" indent="0" marL="0">
              <a:buNone/>
            </a:pPr>
            <a:r>
              <a:rPr lang="en-US" sz="1800" b="1" dirty="0">
                <a:solidFill>
                  <a:srgbClr val="FFFFFF"/>
                </a:solidFill>
                <a:latin typeface="Arial" pitchFamily="34" charset="0"/>
                <a:ea typeface="Arial" pitchFamily="34" charset="-122"/>
                <a:cs typeface="Arial" pitchFamily="34" charset="-120"/>
              </a:rPr>
              <a:t>≈ 21.5 pts</a:t>
            </a:r>
            <a:endParaRPr lang="en-US" sz="1800" dirty="0"/>
          </a:p>
        </p:txBody>
      </p:sp>
      <p:sp>
        <p:nvSpPr>
          <p:cNvPr id="19" name="Text 16"/>
          <p:cNvSpPr txBox="1"/>
          <p:nvPr/>
        </p:nvSpPr>
        <p:spPr>
          <a:xfrm>
            <a:off x="6492240" y="5394960"/>
            <a:ext cx="5120640" cy="914400"/>
          </a:xfrm>
          <a:prstGeom prst="rect">
            <a:avLst/>
          </a:prstGeom>
          <a:noFill/>
          <a:ln/>
        </p:spPr>
        <p:txBody>
          <a:bodyPr wrap="square" lIns="0" tIns="0" rIns="0" bIns="0" rtlCol="0" anchor="ctr"/>
          <a:lstStyle/>
          <a:p>
            <a:pPr indent="0" marL="0">
              <a:buNone/>
            </a:pPr>
            <a:r>
              <a:rPr lang="en-US" sz="1400" i="1" dirty="0">
                <a:solidFill>
                  <a:srgbClr val="9A9486"/>
                </a:solidFill>
                <a:latin typeface="Calibri" pitchFamily="34" charset="0"/>
                <a:ea typeface="Calibri" pitchFamily="34" charset="-122"/>
                <a:cs typeface="Calibri" pitchFamily="34" charset="-120"/>
              </a:rPr>
              <a:t>Information was cheap and a wrong signing was expensive, so we invested in recon and verification, then spent nothing after 11:42.</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DATA CLEANING</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Messy in, clean out.</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554480"/>
                <a:gridCol w="4206240"/>
                <a:gridCol w="5303520"/>
              </a:tblGrid>
              <a:tr h="566928">
                <a:tc>
                  <a:txBody>
                    <a:bodyPr/>
                    <a:lstStyle/>
                    <a:p>
                      <a:pPr indent="0" marL="0">
                        <a:buNone/>
                      </a:pPr>
                      <a:r>
                        <a:rPr lang="en-US" sz="1300" b="1" dirty="0">
                          <a:solidFill>
                            <a:srgbClr val="FFFFFF"/>
                          </a:solidFill>
                          <a:latin typeface="Arial" pitchFamily="34" charset="0"/>
                          <a:ea typeface="Arial" pitchFamily="34" charset="-122"/>
                          <a:cs typeface="Arial" pitchFamily="34" charset="-120"/>
                        </a:rPr>
                        <a:t>Field</a:t>
                      </a:r>
                      <a:endParaRPr lang="en-US" sz="1300" dirty="0">
                        <a:latin typeface="Arial" charset="0"/>
                        <a:ea typeface="Arial" charset="0"/>
                        <a:cs typeface="Arial"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E030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Real messy values</a:t>
                      </a:r>
                      <a:endParaRPr lang="en-US" sz="1300" dirty="0">
                        <a:latin typeface="Arial" charset="0"/>
                        <a:ea typeface="Arial" charset="0"/>
                        <a:cs typeface="Arial"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E030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What the agent does</a:t>
                      </a:r>
                      <a:endParaRPr lang="en-US" sz="1300" dirty="0">
                        <a:latin typeface="Arial" charset="0"/>
                        <a:ea typeface="Arial" charset="0"/>
                        <a:cs typeface="Arial"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E0303A"/>
                    </a:solidFill>
                  </a:tcPr>
                </a:tc>
              </a:tr>
              <a:tr h="566928">
                <a:tc>
                  <a:txBody>
                    <a:bodyPr/>
                    <a:lstStyle/>
                    <a:p>
                      <a:pPr indent="0" marL="0">
                        <a:buNone/>
                      </a:pPr>
                      <a:r>
                        <a:rPr lang="en-US" sz="1200" b="1" dirty="0">
                          <a:solidFill>
                            <a:srgbClr val="F2EFE6"/>
                          </a:solidFill>
                          <a:latin typeface="Calibri" pitchFamily="34" charset="0"/>
                          <a:ea typeface="Calibri" pitchFamily="34" charset="-122"/>
                          <a:cs typeface="Calibri" pitchFamily="34" charset="-120"/>
                        </a:rPr>
                        <a:t>skills</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B33D"/>
                          </a:solidFill>
                          <a:latin typeface="Courier New" pitchFamily="34" charset="0"/>
                          <a:ea typeface="Courier New" pitchFamily="34" charset="-122"/>
                          <a:cs typeface="Courier New" pitchFamily="34" charset="-120"/>
                        </a:rPr>
                        <a:t>"Mongodb; Docker; REST; Node"  "Redis | Postgres"</a:t>
                      </a:r>
                      <a:endParaRPr lang="en-US" sz="1200" dirty="0">
                        <a:latin typeface="Courier New" charset="0"/>
                        <a:ea typeface="Courier New" charset="0"/>
                        <a:cs typeface="Courier New"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EFE6"/>
                          </a:solidFill>
                          <a:latin typeface="Calibri" pitchFamily="34" charset="0"/>
                          <a:ea typeface="Calibri" pitchFamily="34" charset="-122"/>
                          <a:cs typeface="Calibri" pitchFamily="34" charset="-120"/>
                        </a:rPr>
                        <a:t>Split on , ; |  →  map synonyms (REST→rest apis, Postgres→postgresql, k8s→kubernetes)</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r>
              <a:tr h="566928">
                <a:tc>
                  <a:txBody>
                    <a:bodyPr/>
                    <a:lstStyle/>
                    <a:p>
                      <a:pPr indent="0" marL="0">
                        <a:buNone/>
                      </a:pPr>
                      <a:r>
                        <a:rPr lang="en-US" sz="1200" b="1" dirty="0">
                          <a:solidFill>
                            <a:srgbClr val="F2EFE6"/>
                          </a:solidFill>
                          <a:latin typeface="Calibri" pitchFamily="34" charset="0"/>
                          <a:ea typeface="Calibri" pitchFamily="34" charset="-122"/>
                          <a:cs typeface="Calibri" pitchFamily="34" charset="-120"/>
                        </a:rPr>
                        <a:t>experience</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B33D"/>
                          </a:solidFill>
                          <a:latin typeface="Courier New" pitchFamily="34" charset="0"/>
                          <a:ea typeface="Courier New" pitchFamily="34" charset="-122"/>
                          <a:cs typeface="Courier New" pitchFamily="34" charset="-120"/>
                        </a:rPr>
                        <a:t>"67 months"  "4+ years"  "8.4"</a:t>
                      </a:r>
                      <a:endParaRPr lang="en-US" sz="1200" dirty="0">
                        <a:latin typeface="Courier New" charset="0"/>
                        <a:ea typeface="Courier New" charset="0"/>
                        <a:cs typeface="Courier New"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EFE6"/>
                          </a:solidFill>
                          <a:latin typeface="Calibri" pitchFamily="34" charset="0"/>
                          <a:ea typeface="Calibri" pitchFamily="34" charset="-122"/>
                          <a:cs typeface="Calibri" pitchFamily="34" charset="-120"/>
                        </a:rPr>
                        <a:t>First number; months → years</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r>
              <a:tr h="566928">
                <a:tc>
                  <a:txBody>
                    <a:bodyPr/>
                    <a:lstStyle/>
                    <a:p>
                      <a:pPr indent="0" marL="0">
                        <a:buNone/>
                      </a:pPr>
                      <a:r>
                        <a:rPr lang="en-US" sz="1200" b="1" dirty="0">
                          <a:solidFill>
                            <a:srgbClr val="F2EFE6"/>
                          </a:solidFill>
                          <a:latin typeface="Calibri" pitchFamily="34" charset="0"/>
                          <a:ea typeface="Calibri" pitchFamily="34" charset="-122"/>
                          <a:cs typeface="Calibri" pitchFamily="34" charset="-120"/>
                        </a:rPr>
                        <a:t>expected_ctc</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B33D"/>
                          </a:solidFill>
                          <a:latin typeface="Courier New" pitchFamily="34" charset="0"/>
                          <a:ea typeface="Courier New" pitchFamily="34" charset="-122"/>
                          <a:cs typeface="Courier New" pitchFamily="34" charset="-120"/>
                        </a:rPr>
                        <a:t>"1370000"  "25.9 LPA"</a:t>
                      </a:r>
                      <a:endParaRPr lang="en-US" sz="1200" dirty="0">
                        <a:latin typeface="Courier New" charset="0"/>
                        <a:ea typeface="Courier New" charset="0"/>
                        <a:cs typeface="Courier New"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EFE6"/>
                          </a:solidFill>
                          <a:latin typeface="Calibri" pitchFamily="34" charset="0"/>
                          <a:ea typeface="Calibri" pitchFamily="34" charset="-122"/>
                          <a:cs typeface="Calibri" pitchFamily="34" charset="-120"/>
                        </a:rPr>
                        <a:t>Everything to rupees; bar is max_expected_ctc_lpa × 1,00,000</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r>
              <a:tr h="566928">
                <a:tc>
                  <a:txBody>
                    <a:bodyPr/>
                    <a:lstStyle/>
                    <a:p>
                      <a:pPr indent="0" marL="0">
                        <a:buNone/>
                      </a:pPr>
                      <a:r>
                        <a:rPr lang="en-US" sz="1200" b="1" dirty="0">
                          <a:solidFill>
                            <a:srgbClr val="F2EFE6"/>
                          </a:solidFill>
                          <a:latin typeface="Calibri" pitchFamily="34" charset="0"/>
                          <a:ea typeface="Calibri" pitchFamily="34" charset="-122"/>
                          <a:cs typeface="Calibri" pitchFamily="34" charset="-120"/>
                        </a:rPr>
                        <a:t>notice_period</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B33D"/>
                          </a:solidFill>
                          <a:latin typeface="Courier New" pitchFamily="34" charset="0"/>
                          <a:ea typeface="Courier New" pitchFamily="34" charset="-122"/>
                          <a:cs typeface="Courier New" pitchFamily="34" charset="-120"/>
                        </a:rPr>
                        <a:t>"Immediate"  "30 days"  "90 days"</a:t>
                      </a:r>
                      <a:endParaRPr lang="en-US" sz="1200" dirty="0">
                        <a:latin typeface="Courier New" charset="0"/>
                        <a:ea typeface="Courier New" charset="0"/>
                        <a:cs typeface="Courier New"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EFE6"/>
                          </a:solidFill>
                          <a:latin typeface="Calibri" pitchFamily="34" charset="0"/>
                          <a:ea typeface="Calibri" pitchFamily="34" charset="-122"/>
                          <a:cs typeface="Calibri" pitchFamily="34" charset="-120"/>
                        </a:rPr>
                        <a:t>Days; Immediate = 0; must be ≤ 60</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r>
              <a:tr h="566928">
                <a:tc>
                  <a:txBody>
                    <a:bodyPr/>
                    <a:lstStyle/>
                    <a:p>
                      <a:pPr indent="0" marL="0">
                        <a:buNone/>
                      </a:pPr>
                      <a:r>
                        <a:rPr lang="en-US" sz="1200" b="1" dirty="0">
                          <a:solidFill>
                            <a:srgbClr val="F2EFE6"/>
                          </a:solidFill>
                          <a:latin typeface="Calibri" pitchFamily="34" charset="0"/>
                          <a:ea typeface="Calibri" pitchFamily="34" charset="-122"/>
                          <a:cs typeface="Calibri" pitchFamily="34" charset="-120"/>
                        </a:rPr>
                        <a:t>assessment</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B33D"/>
                          </a:solidFill>
                          <a:latin typeface="Courier New" pitchFamily="34" charset="0"/>
                          <a:ea typeface="Courier New" pitchFamily="34" charset="-122"/>
                          <a:cs typeface="Courier New" pitchFamily="34" charset="-120"/>
                        </a:rPr>
                        <a:t>"55"  "0.56"  "91/100"  ""</a:t>
                      </a:r>
                      <a:endParaRPr lang="en-US" sz="1200" dirty="0">
                        <a:latin typeface="Courier New" charset="0"/>
                        <a:ea typeface="Courier New" charset="0"/>
                        <a:cs typeface="Courier New"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EFE6"/>
                          </a:solidFill>
                          <a:latin typeface="Calibri" pitchFamily="34" charset="0"/>
                          <a:ea typeface="Calibri" pitchFamily="34" charset="-122"/>
                          <a:cs typeface="Calibri" pitchFamily="34" charset="-120"/>
                        </a:rPr>
                        <a:t>0–100 scale; empty = unknown, never zero</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r>
              <a:tr h="566928">
                <a:tc>
                  <a:txBody>
                    <a:bodyPr/>
                    <a:lstStyle/>
                    <a:p>
                      <a:pPr indent="0" marL="0">
                        <a:buNone/>
                      </a:pPr>
                      <a:r>
                        <a:rPr lang="en-US" sz="1200" b="1" dirty="0">
                          <a:solidFill>
                            <a:srgbClr val="F2EFE6"/>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B33D"/>
                          </a:solidFill>
                          <a:latin typeface="Courier New" pitchFamily="34" charset="0"/>
                          <a:ea typeface="Courier New" pitchFamily="34" charset="-122"/>
                          <a:cs typeface="Courier New" pitchFamily="34" charset="-120"/>
                        </a:rPr>
                        <a:t>"reference check was lukewarm exploring other offers"</a:t>
                      </a:r>
                      <a:endParaRPr lang="en-US" sz="1200" dirty="0">
                        <a:latin typeface="Courier New" charset="0"/>
                        <a:ea typeface="Courier New" charset="0"/>
                        <a:cs typeface="Courier New"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c>
                  <a:txBody>
                    <a:bodyPr/>
                    <a:lstStyle/>
                    <a:p>
                      <a:pPr indent="0" marL="0">
                        <a:buNone/>
                      </a:pPr>
                      <a:r>
                        <a:rPr lang="en-US" sz="1200" dirty="0">
                          <a:solidFill>
                            <a:srgbClr val="F2EFE6"/>
                          </a:solidFill>
                          <a:latin typeface="Calibri" pitchFamily="34" charset="0"/>
                          <a:ea typeface="Calibri" pitchFamily="34" charset="-122"/>
                          <a:cs typeface="Calibri" pitchFamily="34" charset="-120"/>
                        </a:rPr>
                        <a:t>Each distinct note scored once by the LLM (−2..+2)</a:t>
                      </a:r>
                      <a:endParaRPr lang="en-US" sz="1200" dirty="0">
                        <a:latin typeface="Calibri" charset="0"/>
                        <a:ea typeface="Calibri" charset="0"/>
                        <a:cs typeface="Calibri" charset="0"/>
                      </a:endParaRPr>
                    </a:p>
                  </a:txBody>
                  <a:tcPr marL="91440" marR="91440" marT="45720" marB="45720" anchor="ctr">
                    <a:lnL w="25400" cap="flat" cmpd="sng" algn="ctr">
                      <a:solidFill>
                        <a:srgbClr val="0D0D0F"/>
                      </a:solidFill>
                      <a:prstDash val="solid"/>
                      <a:round/>
                      <a:headEnd type="none" w="med" len="med"/>
                      <a:tailEnd type="none" w="med" len="med"/>
                    </a:lnL>
                    <a:lnR w="25400" cap="flat" cmpd="sng" algn="ctr">
                      <a:solidFill>
                        <a:srgbClr val="0D0D0F"/>
                      </a:solidFill>
                      <a:prstDash val="solid"/>
                      <a:round/>
                      <a:headEnd type="none" w="med" len="med"/>
                      <a:tailEnd type="none" w="med" len="med"/>
                    </a:lnR>
                    <a:lnT w="25400" cap="flat" cmpd="sng" algn="ctr">
                      <a:solidFill>
                        <a:srgbClr val="0D0D0F"/>
                      </a:solidFill>
                      <a:prstDash val="solid"/>
                      <a:round/>
                      <a:headEnd type="none" w="med" len="med"/>
                      <a:tailEnd type="none" w="med" len="med"/>
                    </a:lnT>
                    <a:lnB w="25400" cap="flat" cmpd="sng" algn="ctr">
                      <a:solidFill>
                        <a:srgbClr val="0D0D0F"/>
                      </a:solidFill>
                      <a:prstDash val="solid"/>
                      <a:round/>
                      <a:headEnd type="none" w="med" len="med"/>
                      <a:tailEnd type="none" w="med" len="med"/>
                    </a:lnB>
                    <a:solidFill>
                      <a:srgbClr val="1A1A20"/>
                    </a:solidFill>
                  </a:tcPr>
                </a:tc>
              </a:tr>
            </a:tbl>
          </a:graphicData>
        </a:graphic>
      </p:graphicFrame>
      <p:sp>
        <p:nvSpPr>
          <p:cNvPr id="5" name="Text 2"/>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i="1" dirty="0">
                <a:solidFill>
                  <a:srgbClr val="9A9486"/>
                </a:solidFill>
                <a:latin typeface="Calibri" pitchFamily="34" charset="0"/>
                <a:ea typeface="Calibri" pitchFamily="34" charset="-122"/>
                <a:cs typeface="Calibri" pitchFamily="34" charset="-120"/>
              </a:rPr>
              <a:t>Before finalising the parsers we checked the live format. That caught a field our first draft missed (max_expected_ctc_lpa).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CATCHING THE FAKES</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Self-reported scores lie. Verification doesn't.</a:t>
            </a:r>
            <a:endParaRPr lang="en-US" sz="3400" dirty="0"/>
          </a:p>
        </p:txBody>
      </p:sp>
      <p:sp>
        <p:nvSpPr>
          <p:cNvPr id="4" name="Shape 2"/>
          <p:cNvSpPr/>
          <p:nvPr/>
        </p:nvSpPr>
        <p:spPr>
          <a:xfrm>
            <a:off x="548640" y="1600200"/>
            <a:ext cx="6035040" cy="4754880"/>
          </a:xfrm>
          <a:prstGeom prst="roundRect">
            <a:avLst>
              <a:gd name="adj" fmla="val 2308"/>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5" name="Image 0" descr="/private/tmp/claude-501/-Users-rimshachaudhary/39e555b3-5a08-4f48-ba14-96d27de05f30/scratchpad/deck/c_fakes.png">    </p:cNvPr>
          <p:cNvPicPr>
            <a:picLocks noChangeAspect="1"/>
          </p:cNvPicPr>
          <p:nvPr/>
        </p:nvPicPr>
        <p:blipFill>
          <a:blip r:embed="rId1"/>
          <a:stretch>
            <a:fillRect/>
          </a:stretch>
        </p:blipFill>
        <p:spPr>
          <a:xfrm>
            <a:off x="868680" y="1783080"/>
            <a:ext cx="5394960" cy="4398264"/>
          </a:xfrm>
          <a:prstGeom prst="rect">
            <a:avLst/>
          </a:prstGeom>
        </p:spPr>
      </p:pic>
      <p:sp>
        <p:nvSpPr>
          <p:cNvPr id="6" name="Shape 3"/>
          <p:cNvSpPr/>
          <p:nvPr/>
        </p:nvSpPr>
        <p:spPr>
          <a:xfrm>
            <a:off x="6858000" y="1600200"/>
            <a:ext cx="4754880" cy="1051560"/>
          </a:xfrm>
          <a:prstGeom prst="roundRect">
            <a:avLst>
              <a:gd name="adj" fmla="val 10435"/>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7" name="Image 1" descr="/private/tmp/claude-501/-Users-rimshachaudhary/39e555b3-5a08-4f48-ba14-96d27de05f30/scratchpad/deck/sph_E0303A.png">    </p:cNvPr>
          <p:cNvPicPr>
            <a:picLocks noChangeAspect="1"/>
          </p:cNvPicPr>
          <p:nvPr/>
        </p:nvPicPr>
        <p:blipFill>
          <a:blip r:embed="rId2"/>
          <a:stretch>
            <a:fillRect/>
          </a:stretch>
        </p:blipFill>
        <p:spPr>
          <a:xfrm>
            <a:off x="7007013" y="1927352"/>
            <a:ext cx="433493" cy="433493"/>
          </a:xfrm>
          <a:prstGeom prst="rect">
            <a:avLst/>
          </a:prstGeom>
        </p:spPr>
      </p:pic>
      <p:sp>
        <p:nvSpPr>
          <p:cNvPr id="8" name="Text 4"/>
          <p:cNvSpPr txBox="1"/>
          <p:nvPr/>
        </p:nvSpPr>
        <p:spPr>
          <a:xfrm>
            <a:off x="7589520" y="1691640"/>
            <a:ext cx="3840480" cy="411480"/>
          </a:xfrm>
          <a:prstGeom prst="rect">
            <a:avLst/>
          </a:prstGeom>
          <a:noFill/>
          <a:ln/>
        </p:spPr>
        <p:txBody>
          <a:bodyPr wrap="square" lIns="0" tIns="0" rIns="0" bIns="0" rtlCol="0" anchor="ctr"/>
          <a:lstStyle/>
          <a:p>
            <a:pPr indent="0" marL="0">
              <a:buNone/>
            </a:pPr>
            <a:r>
              <a:rPr lang="en-US" sz="1900" b="1" dirty="0">
                <a:solidFill>
                  <a:srgbClr val="F2EFE6"/>
                </a:solidFill>
                <a:latin typeface="Arial" pitchFamily="34" charset="0"/>
                <a:ea typeface="Arial" pitchFamily="34" charset="-122"/>
                <a:cs typeface="Arial" pitchFamily="34" charset="-120"/>
              </a:rPr>
              <a:t>11 of 176</a:t>
            </a:r>
            <a:endParaRPr lang="en-US" sz="1900" dirty="0"/>
          </a:p>
        </p:txBody>
      </p:sp>
      <p:sp>
        <p:nvSpPr>
          <p:cNvPr id="9" name="Text 5"/>
          <p:cNvSpPr txBox="1"/>
          <p:nvPr/>
        </p:nvSpPr>
        <p:spPr>
          <a:xfrm>
            <a:off x="7589520" y="2103120"/>
            <a:ext cx="3886200" cy="502920"/>
          </a:xfrm>
          <a:prstGeom prst="rect">
            <a:avLst/>
          </a:prstGeom>
          <a:noFill/>
          <a:ln/>
        </p:spPr>
        <p:txBody>
          <a:bodyPr wrap="square" lIns="0" tIns="0" rIns="0" bIns="0" rtlCol="0" anchor="ctr"/>
          <a:lstStyle/>
          <a:p>
            <a:pPr indent="0" marL="0">
              <a:buNone/>
            </a:pPr>
            <a:r>
              <a:rPr lang="en-US" sz="1200" dirty="0">
                <a:solidFill>
                  <a:srgbClr val="9A9486"/>
                </a:solidFill>
                <a:latin typeface="Calibri" pitchFamily="34" charset="0"/>
                <a:ea typeface="Calibri" pitchFamily="34" charset="-122"/>
                <a:cs typeface="Calibri" pitchFamily="34" charset="-120"/>
              </a:rPr>
              <a:t>failed verification (6.3%): identity not verified, “could not verify employment”</a:t>
            </a:r>
            <a:endParaRPr lang="en-US" sz="1200" dirty="0"/>
          </a:p>
        </p:txBody>
      </p:sp>
      <p:sp>
        <p:nvSpPr>
          <p:cNvPr id="10" name="Shape 6"/>
          <p:cNvSpPr/>
          <p:nvPr/>
        </p:nvSpPr>
        <p:spPr>
          <a:xfrm>
            <a:off x="6858000" y="2807208"/>
            <a:ext cx="4754880" cy="1051560"/>
          </a:xfrm>
          <a:prstGeom prst="roundRect">
            <a:avLst>
              <a:gd name="adj" fmla="val 10435"/>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1" name="Image 2" descr="/private/tmp/claude-501/-Users-rimshachaudhary/39e555b3-5a08-4f48-ba14-96d27de05f30/scratchpad/deck/sph_F2B33D.png">    </p:cNvPr>
          <p:cNvPicPr>
            <a:picLocks noChangeAspect="1"/>
          </p:cNvPicPr>
          <p:nvPr/>
        </p:nvPicPr>
        <p:blipFill>
          <a:blip r:embed="rId3"/>
          <a:stretch>
            <a:fillRect/>
          </a:stretch>
        </p:blipFill>
        <p:spPr>
          <a:xfrm>
            <a:off x="7007013" y="3134360"/>
            <a:ext cx="433493" cy="433493"/>
          </a:xfrm>
          <a:prstGeom prst="rect">
            <a:avLst/>
          </a:prstGeom>
        </p:spPr>
      </p:pic>
      <p:sp>
        <p:nvSpPr>
          <p:cNvPr id="12" name="Text 7"/>
          <p:cNvSpPr txBox="1"/>
          <p:nvPr/>
        </p:nvSpPr>
        <p:spPr>
          <a:xfrm>
            <a:off x="7589520" y="2898648"/>
            <a:ext cx="3840480" cy="411480"/>
          </a:xfrm>
          <a:prstGeom prst="rect">
            <a:avLst/>
          </a:prstGeom>
          <a:noFill/>
          <a:ln/>
        </p:spPr>
        <p:txBody>
          <a:bodyPr wrap="square" lIns="0" tIns="0" rIns="0" bIns="0" rtlCol="0" anchor="ctr"/>
          <a:lstStyle/>
          <a:p>
            <a:pPr indent="0" marL="0">
              <a:buNone/>
            </a:pPr>
            <a:r>
              <a:rPr lang="en-US" sz="1900" b="1" dirty="0">
                <a:solidFill>
                  <a:srgbClr val="F2EFE6"/>
                </a:solidFill>
                <a:latin typeface="Arial" pitchFamily="34" charset="0"/>
                <a:ea typeface="Arial" pitchFamily="34" charset="-122"/>
                <a:cs typeface="Arial" pitchFamily="34" charset="-120"/>
              </a:rPr>
              <a:t>85–99 → 25–54</a:t>
            </a:r>
            <a:endParaRPr lang="en-US" sz="1900" dirty="0"/>
          </a:p>
        </p:txBody>
      </p:sp>
      <p:sp>
        <p:nvSpPr>
          <p:cNvPr id="13" name="Text 8"/>
          <p:cNvSpPr txBox="1"/>
          <p:nvPr/>
        </p:nvSpPr>
        <p:spPr>
          <a:xfrm>
            <a:off x="7589520" y="3310128"/>
            <a:ext cx="3886200" cy="502920"/>
          </a:xfrm>
          <a:prstGeom prst="rect">
            <a:avLst/>
          </a:prstGeom>
          <a:noFill/>
          <a:ln/>
        </p:spPr>
        <p:txBody>
          <a:bodyPr wrap="square" lIns="0" tIns="0" rIns="0" bIns="0" rtlCol="0" anchor="ctr"/>
          <a:lstStyle/>
          <a:p>
            <a:pPr indent="0" marL="0">
              <a:buNone/>
            </a:pPr>
            <a:r>
              <a:rPr lang="en-US" sz="1200" dirty="0">
                <a:solidFill>
                  <a:srgbClr val="9A9486"/>
                </a:solidFill>
                <a:latin typeface="Calibri" pitchFamily="34" charset="0"/>
                <a:ea typeface="Calibri" pitchFamily="34" charset="-122"/>
                <a:cs typeface="Calibri" pitchFamily="34" charset="-120"/>
              </a:rPr>
              <a:t>fakes claim high but not perfect; all 103 perfect-100s were genuine</a:t>
            </a:r>
            <a:endParaRPr lang="en-US" sz="1200" dirty="0"/>
          </a:p>
        </p:txBody>
      </p:sp>
      <p:sp>
        <p:nvSpPr>
          <p:cNvPr id="14" name="Shape 9"/>
          <p:cNvSpPr/>
          <p:nvPr/>
        </p:nvSpPr>
        <p:spPr>
          <a:xfrm>
            <a:off x="6858000" y="4014216"/>
            <a:ext cx="4754880" cy="1051560"/>
          </a:xfrm>
          <a:prstGeom prst="roundRect">
            <a:avLst>
              <a:gd name="adj" fmla="val 10435"/>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5" name="Image 3" descr="/private/tmp/claude-501/-Users-rimshachaudhary/39e555b3-5a08-4f48-ba14-96d27de05f30/scratchpad/deck/sph_2BB3A3.png">    </p:cNvPr>
          <p:cNvPicPr>
            <a:picLocks noChangeAspect="1"/>
          </p:cNvPicPr>
          <p:nvPr/>
        </p:nvPicPr>
        <p:blipFill>
          <a:blip r:embed="rId4"/>
          <a:stretch>
            <a:fillRect/>
          </a:stretch>
        </p:blipFill>
        <p:spPr>
          <a:xfrm>
            <a:off x="7007013" y="4341368"/>
            <a:ext cx="433493" cy="433493"/>
          </a:xfrm>
          <a:prstGeom prst="rect">
            <a:avLst/>
          </a:prstGeom>
        </p:spPr>
      </p:pic>
      <p:sp>
        <p:nvSpPr>
          <p:cNvPr id="16" name="Text 10"/>
          <p:cNvSpPr txBox="1"/>
          <p:nvPr/>
        </p:nvSpPr>
        <p:spPr>
          <a:xfrm>
            <a:off x="7589520" y="4105656"/>
            <a:ext cx="3840480" cy="411480"/>
          </a:xfrm>
          <a:prstGeom prst="rect">
            <a:avLst/>
          </a:prstGeom>
          <a:noFill/>
          <a:ln/>
        </p:spPr>
        <p:txBody>
          <a:bodyPr wrap="square" lIns="0" tIns="0" rIns="0" bIns="0" rtlCol="0" anchor="ctr"/>
          <a:lstStyle/>
          <a:p>
            <a:pPr indent="0" marL="0">
              <a:buNone/>
            </a:pPr>
            <a:r>
              <a:rPr lang="en-US" sz="1900" b="1" dirty="0">
                <a:solidFill>
                  <a:srgbClr val="F2EFE6"/>
                </a:solidFill>
                <a:latin typeface="Arial" pitchFamily="34" charset="0"/>
                <a:ea typeface="Arial" pitchFamily="34" charset="-122"/>
                <a:cs typeface="Arial" pitchFamily="34" charset="-120"/>
              </a:rPr>
              <a:t>+5 points</a:t>
            </a:r>
            <a:endParaRPr lang="en-US" sz="1900" dirty="0"/>
          </a:p>
        </p:txBody>
      </p:sp>
      <p:sp>
        <p:nvSpPr>
          <p:cNvPr id="17" name="Text 11"/>
          <p:cNvSpPr txBox="1"/>
          <p:nvPr/>
        </p:nvSpPr>
        <p:spPr>
          <a:xfrm>
            <a:off x="7589520" y="4517136"/>
            <a:ext cx="3886200" cy="502920"/>
          </a:xfrm>
          <a:prstGeom prst="rect">
            <a:avLst/>
          </a:prstGeom>
          <a:noFill/>
          <a:ln/>
        </p:spPr>
        <p:txBody>
          <a:bodyPr wrap="square" lIns="0" tIns="0" rIns="0" bIns="0" rtlCol="0" anchor="ctr"/>
          <a:lstStyle/>
          <a:p>
            <a:pPr indent="0" marL="0">
              <a:buNone/>
            </a:pPr>
            <a:r>
              <a:rPr lang="en-US" sz="1200" dirty="0">
                <a:solidFill>
                  <a:srgbClr val="9A9486"/>
                </a:solidFill>
                <a:latin typeface="Calibri" pitchFamily="34" charset="0"/>
                <a:ea typeface="Calibri" pitchFamily="34" charset="-122"/>
                <a:cs typeface="Calibri" pitchFamily="34" charset="-120"/>
              </a:rPr>
              <a:t>average inflation among genuine candidates</a:t>
            </a:r>
            <a:endParaRPr lang="en-US" sz="1200" dirty="0"/>
          </a:p>
        </p:txBody>
      </p:sp>
      <p:sp>
        <p:nvSpPr>
          <p:cNvPr id="18" name="Shape 12"/>
          <p:cNvSpPr/>
          <p:nvPr/>
        </p:nvSpPr>
        <p:spPr>
          <a:xfrm>
            <a:off x="6858000" y="5221224"/>
            <a:ext cx="4754880" cy="1051560"/>
          </a:xfrm>
          <a:prstGeom prst="roundRect">
            <a:avLst>
              <a:gd name="adj" fmla="val 10435"/>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9" name="Image 4" descr="/private/tmp/claude-501/-Users-rimshachaudhary/39e555b3-5a08-4f48-ba14-96d27de05f30/scratchpad/deck/sph_8A7CFF.png">    </p:cNvPr>
          <p:cNvPicPr>
            <a:picLocks noChangeAspect="1"/>
          </p:cNvPicPr>
          <p:nvPr/>
        </p:nvPicPr>
        <p:blipFill>
          <a:blip r:embed="rId5"/>
          <a:stretch>
            <a:fillRect/>
          </a:stretch>
        </p:blipFill>
        <p:spPr>
          <a:xfrm>
            <a:off x="7007013" y="5548376"/>
            <a:ext cx="433493" cy="433493"/>
          </a:xfrm>
          <a:prstGeom prst="rect">
            <a:avLst/>
          </a:prstGeom>
        </p:spPr>
      </p:pic>
      <p:sp>
        <p:nvSpPr>
          <p:cNvPr id="20" name="Text 13"/>
          <p:cNvSpPr txBox="1"/>
          <p:nvPr/>
        </p:nvSpPr>
        <p:spPr>
          <a:xfrm>
            <a:off x="7589520" y="5312664"/>
            <a:ext cx="3840480" cy="411480"/>
          </a:xfrm>
          <a:prstGeom prst="rect">
            <a:avLst/>
          </a:prstGeom>
          <a:noFill/>
          <a:ln/>
        </p:spPr>
        <p:txBody>
          <a:bodyPr wrap="square" lIns="0" tIns="0" rIns="0" bIns="0" rtlCol="0" anchor="ctr"/>
          <a:lstStyle/>
          <a:p>
            <a:pPr indent="0" marL="0">
              <a:buNone/>
            </a:pPr>
            <a:r>
              <a:rPr lang="en-US" sz="1900" b="1" dirty="0">
                <a:solidFill>
                  <a:srgbClr val="F2EFE6"/>
                </a:solidFill>
                <a:latin typeface="Arial" pitchFamily="34" charset="0"/>
                <a:ea typeface="Arial" pitchFamily="34" charset="-122"/>
                <a:cs typeface="Arial" pitchFamily="34" charset="-120"/>
              </a:rPr>
              <a:t>116 / 116</a:t>
            </a:r>
            <a:endParaRPr lang="en-US" sz="1900" dirty="0"/>
          </a:p>
        </p:txBody>
      </p:sp>
      <p:sp>
        <p:nvSpPr>
          <p:cNvPr id="21" name="Text 14"/>
          <p:cNvSpPr txBox="1"/>
          <p:nvPr/>
        </p:nvSpPr>
        <p:spPr>
          <a:xfrm>
            <a:off x="7589520" y="5724144"/>
            <a:ext cx="3886200" cy="502920"/>
          </a:xfrm>
          <a:prstGeom prst="rect">
            <a:avLst/>
          </a:prstGeom>
          <a:noFill/>
          <a:ln/>
        </p:spPr>
        <p:txBody>
          <a:bodyPr wrap="square" lIns="0" tIns="0" rIns="0" bIns="0" rtlCol="0" anchor="ctr"/>
          <a:lstStyle/>
          <a:p>
            <a:pPr indent="0" marL="0">
              <a:buNone/>
            </a:pPr>
            <a:r>
              <a:rPr lang="en-US" sz="1200" dirty="0">
                <a:solidFill>
                  <a:srgbClr val="9A9486"/>
                </a:solidFill>
                <a:latin typeface="Calibri" pitchFamily="34" charset="0"/>
                <a:ea typeface="Calibri" pitchFamily="34" charset="-122"/>
                <a:cs typeface="Calibri" pitchFamily="34" charset="-120"/>
              </a:rPr>
              <a:t>of our signings verified: min margin +11 over the bar, 100% skill match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HOW WE CHOOSE</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Scored exactly how points are earned.</a:t>
            </a:r>
            <a:endParaRPr lang="en-US" sz="3400" dirty="0"/>
          </a:p>
        </p:txBody>
      </p:sp>
      <p:sp>
        <p:nvSpPr>
          <p:cNvPr id="4" name="Shape 2"/>
          <p:cNvSpPr/>
          <p:nvPr/>
        </p:nvSpPr>
        <p:spPr>
          <a:xfrm>
            <a:off x="548640" y="1600200"/>
            <a:ext cx="5852160" cy="4754880"/>
          </a:xfrm>
          <a:prstGeom prst="roundRect">
            <a:avLst>
              <a:gd name="adj" fmla="val 2308"/>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5" name="Image 0" descr="/private/tmp/claude-501/-Users-rimshachaudhary/39e555b3-5a08-4f48-ba14-96d27de05f30/scratchpad/deck/c_weights.png">    </p:cNvPr>
          <p:cNvPicPr>
            <a:picLocks noChangeAspect="1"/>
          </p:cNvPicPr>
          <p:nvPr/>
        </p:nvPicPr>
        <p:blipFill>
          <a:blip r:embed="rId1"/>
          <a:stretch>
            <a:fillRect/>
          </a:stretch>
        </p:blipFill>
        <p:spPr>
          <a:xfrm>
            <a:off x="731520" y="1920240"/>
            <a:ext cx="5486400" cy="4041648"/>
          </a:xfrm>
          <a:prstGeom prst="rect">
            <a:avLst/>
          </a:prstGeom>
        </p:spPr>
      </p:pic>
      <p:sp>
        <p:nvSpPr>
          <p:cNvPr id="6" name="Text 3"/>
          <p:cNvSpPr txBox="1"/>
          <p:nvPr/>
        </p:nvSpPr>
        <p:spPr>
          <a:xfrm>
            <a:off x="6675120" y="1645920"/>
            <a:ext cx="4937760" cy="411480"/>
          </a:xfrm>
          <a:prstGeom prst="rect">
            <a:avLst/>
          </a:prstGeom>
          <a:noFill/>
          <a:ln/>
        </p:spPr>
        <p:txBody>
          <a:bodyPr wrap="square" lIns="0" tIns="0" rIns="0" bIns="0" rtlCol="0" anchor="ctr"/>
          <a:lstStyle/>
          <a:p>
            <a:pPr indent="0" marL="0">
              <a:buNone/>
            </a:pPr>
            <a:r>
              <a:rPr lang="en-US" sz="1800" b="1" dirty="0">
                <a:solidFill>
                  <a:srgbClr val="F2EFE6"/>
                </a:solidFill>
                <a:latin typeface="Arial" pitchFamily="34" charset="0"/>
                <a:ea typeface="Arial" pitchFamily="34" charset="-122"/>
                <a:cs typeface="Arial" pitchFamily="34" charset="-120"/>
              </a:rPr>
              <a:t>Two gates, then a score</a:t>
            </a:r>
            <a:endParaRPr lang="en-US" sz="1800" dirty="0"/>
          </a:p>
        </p:txBody>
      </p:sp>
      <p:sp>
        <p:nvSpPr>
          <p:cNvPr id="7" name="Text 4"/>
          <p:cNvSpPr txBox="1"/>
          <p:nvPr/>
        </p:nvSpPr>
        <p:spPr>
          <a:xfrm>
            <a:off x="6675120" y="2194560"/>
            <a:ext cx="4937760" cy="4114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2EFE6"/>
                </a:solidFill>
                <a:latin typeface="Calibri" pitchFamily="34" charset="0"/>
                <a:ea typeface="Calibri" pitchFamily="34" charset="-122"/>
                <a:cs typeface="Calibri" pitchFamily="34" charset="-120"/>
              </a:rPr>
              <a:t>Hard bar first: verified assessment ≥ minimum, notice ≤ 60 days, CTC ≤ budget, right role, not claimed.</a:t>
            </a:r>
            <a:endParaRPr lang="en-US" sz="1400" dirty="0"/>
          </a:p>
          <a:p>
            <a:pPr marL="342900" indent="-342900">
              <a:spcAft>
                <a:spcPts val="800"/>
              </a:spcAft>
              <a:buSzPct val="100000"/>
              <a:buChar char="■"/>
            </a:pPr>
            <a:r>
              <a:rPr lang="en-US" sz="1400" dirty="0">
                <a:solidFill>
                  <a:srgbClr val="F2EFE6"/>
                </a:solidFill>
                <a:latin typeface="Calibri" pitchFamily="34" charset="0"/>
                <a:ea typeface="Calibri" pitchFamily="34" charset="-122"/>
                <a:cs typeface="Calibri" pitchFamily="34" charset="-120"/>
              </a:rPr>
              <a:t>Trust second: failed verification = dead forever. Doubtful + unverified = never signed.</a:t>
            </a:r>
            <a:endParaRPr lang="en-US" sz="1400" dirty="0"/>
          </a:p>
          <a:p>
            <a:pPr marL="342900" indent="-342900">
              <a:spcAft>
                <a:spcPts val="800"/>
              </a:spcAft>
              <a:buSzPct val="100000"/>
              <a:buChar char="■"/>
            </a:pPr>
            <a:r>
              <a:rPr lang="en-US" sz="1400" dirty="0">
                <a:solidFill>
                  <a:srgbClr val="F2EFE6"/>
                </a:solidFill>
                <a:latin typeface="Calibri" pitchFamily="34" charset="0"/>
                <a:ea typeface="Calibri" pitchFamily="34" charset="-122"/>
                <a:cs typeface="Calibri" pitchFamily="34" charset="-120"/>
              </a:rPr>
              <a:t>Then value = points × quality, and each requisition takes its top-headcount people.</a:t>
            </a:r>
            <a:endParaRPr lang="en-US" sz="1400" dirty="0"/>
          </a:p>
          <a:p>
            <a:pPr marL="342900" indent="-342900">
              <a:spcAft>
                <a:spcPts val="800"/>
              </a:spcAft>
              <a:buSzPct val="100000"/>
              <a:buChar char="■"/>
            </a:pPr>
            <a:r>
              <a:rPr lang="en-US" sz="1400" dirty="0">
                <a:solidFill>
                  <a:srgbClr val="F2EFE6"/>
                </a:solidFill>
                <a:latin typeface="Calibri" pitchFamily="34" charset="0"/>
                <a:ea typeface="Calibri" pitchFamily="34" charset="-122"/>
                <a:cs typeface="Calibri" pitchFamily="34" charset="-120"/>
              </a:rPr>
              <a:t>Assessment model: least-squares fit of verified on self-reported score, from our own paid checks.</a:t>
            </a:r>
            <a:endParaRPr lang="en-US" sz="1400" dirty="0"/>
          </a:p>
          <a:p>
            <a:pPr marL="342900" indent="-342900">
              <a:spcAft>
                <a:spcPts val="800"/>
              </a:spcAft>
              <a:buSzPct val="100000"/>
              <a:buChar char="■"/>
            </a:pPr>
            <a:r>
              <a:rPr lang="en-US" sz="1400" dirty="0">
                <a:solidFill>
                  <a:srgbClr val="F2EFE6"/>
                </a:solidFill>
                <a:latin typeface="Calibri" pitchFamily="34" charset="0"/>
                <a:ea typeface="Calibri" pitchFamily="34" charset="-122"/>
                <a:cs typeface="Calibri" pitchFamily="34" charset="-120"/>
              </a:rPr>
              <a:t>Note scorer: 100 distinct notes scored once in 2 LLM calls (≈3 credits), cached, keyword fallback.</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TECH STACK</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Small, dependency-free, and explainable.</a:t>
            </a:r>
            <a:endParaRPr lang="en-US" sz="3400" dirty="0"/>
          </a:p>
        </p:txBody>
      </p:sp>
      <p:pic>
        <p:nvPicPr>
          <p:cNvPr id="4" name="Image 0" descr="/private/tmp/claude-501/-Users-rimshachaudhary/39e555b3-5a08-4f48-ba14-96d27de05f30/scratchpad/deck/stack.png">    </p:cNvPr>
          <p:cNvPicPr>
            <a:picLocks noChangeAspect="1"/>
          </p:cNvPicPr>
          <p:nvPr/>
        </p:nvPicPr>
        <p:blipFill>
          <a:blip r:embed="rId1"/>
          <a:stretch>
            <a:fillRect/>
          </a:stretch>
        </p:blipFill>
        <p:spPr>
          <a:xfrm>
            <a:off x="274320" y="1325880"/>
            <a:ext cx="6400800" cy="5010912"/>
          </a:xfrm>
          <a:prstGeom prst="rect">
            <a:avLst/>
          </a:prstGeom>
        </p:spPr>
      </p:pic>
      <p:sp>
        <p:nvSpPr>
          <p:cNvPr id="5" name="Shape 2"/>
          <p:cNvSpPr/>
          <p:nvPr/>
        </p:nvSpPr>
        <p:spPr>
          <a:xfrm>
            <a:off x="6858000" y="1463040"/>
            <a:ext cx="4754880" cy="713232"/>
          </a:xfrm>
          <a:prstGeom prst="roundRect">
            <a:avLst>
              <a:gd name="adj" fmla="val 15385"/>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6" name="Text 3"/>
          <p:cNvSpPr txBox="1"/>
          <p:nvPr/>
        </p:nvSpPr>
        <p:spPr>
          <a:xfrm>
            <a:off x="7040880" y="1517904"/>
            <a:ext cx="4389120" cy="256032"/>
          </a:xfrm>
          <a:prstGeom prst="rect">
            <a:avLst/>
          </a:prstGeom>
          <a:noFill/>
          <a:ln/>
        </p:spPr>
        <p:txBody>
          <a:bodyPr wrap="square" lIns="0" tIns="0" rIns="0" bIns="0" rtlCol="0" anchor="ctr"/>
          <a:lstStyle/>
          <a:p>
            <a:pPr indent="0" marL="0">
              <a:buNone/>
            </a:pPr>
            <a:r>
              <a:rPr lang="en-US" sz="1100" b="1" spc="200" kern="0" dirty="0">
                <a:solidFill>
                  <a:srgbClr val="E0303A"/>
                </a:solidFill>
                <a:latin typeface="Arial" pitchFamily="34" charset="0"/>
                <a:ea typeface="Arial" pitchFamily="34" charset="-122"/>
                <a:cs typeface="Arial" pitchFamily="34" charset="-120"/>
              </a:rPr>
              <a:t>LANGUAGE</a:t>
            </a:r>
            <a:endParaRPr lang="en-US" sz="1100" dirty="0"/>
          </a:p>
        </p:txBody>
      </p:sp>
      <p:sp>
        <p:nvSpPr>
          <p:cNvPr id="7" name="Text 4"/>
          <p:cNvSpPr txBox="1"/>
          <p:nvPr/>
        </p:nvSpPr>
        <p:spPr>
          <a:xfrm>
            <a:off x="7040880" y="1755648"/>
            <a:ext cx="4480560" cy="402336"/>
          </a:xfrm>
          <a:prstGeom prst="rect">
            <a:avLst/>
          </a:prstGeom>
          <a:noFill/>
          <a:ln/>
        </p:spPr>
        <p:txBody>
          <a:bodyPr wrap="square" lIns="0" tIns="0" rIns="0" bIns="0" rtlCol="0" anchor="ctr"/>
          <a:lstStyle/>
          <a:p>
            <a:pPr indent="0" marL="0">
              <a:buNone/>
            </a:pPr>
            <a:r>
              <a:rPr lang="en-US" sz="1150" dirty="0">
                <a:solidFill>
                  <a:srgbClr val="F2EFE6"/>
                </a:solidFill>
                <a:latin typeface="Calibri" pitchFamily="34" charset="0"/>
                <a:ea typeface="Calibri" pitchFamily="34" charset="-122"/>
                <a:cs typeface="Calibri" pitchFamily="34" charset="-120"/>
              </a:rPr>
              <a:t>Python 3, standard library only: http.client, threading, concurrent.futures, statistics, json, re</a:t>
            </a:r>
            <a:endParaRPr lang="en-US" sz="1150" dirty="0"/>
          </a:p>
        </p:txBody>
      </p:sp>
      <p:sp>
        <p:nvSpPr>
          <p:cNvPr id="8" name="Shape 5"/>
          <p:cNvSpPr/>
          <p:nvPr/>
        </p:nvSpPr>
        <p:spPr>
          <a:xfrm>
            <a:off x="6858000" y="2286000"/>
            <a:ext cx="4754880" cy="713232"/>
          </a:xfrm>
          <a:prstGeom prst="roundRect">
            <a:avLst>
              <a:gd name="adj" fmla="val 15385"/>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9" name="Text 6"/>
          <p:cNvSpPr txBox="1"/>
          <p:nvPr/>
        </p:nvSpPr>
        <p:spPr>
          <a:xfrm>
            <a:off x="7040880" y="2340864"/>
            <a:ext cx="4389120" cy="256032"/>
          </a:xfrm>
          <a:prstGeom prst="rect">
            <a:avLst/>
          </a:prstGeom>
          <a:noFill/>
          <a:ln/>
        </p:spPr>
        <p:txBody>
          <a:bodyPr wrap="square" lIns="0" tIns="0" rIns="0" bIns="0" rtlCol="0" anchor="ctr"/>
          <a:lstStyle/>
          <a:p>
            <a:pPr indent="0" marL="0">
              <a:buNone/>
            </a:pPr>
            <a:r>
              <a:rPr lang="en-US" sz="1100" b="1" spc="200" kern="0" dirty="0">
                <a:solidFill>
                  <a:srgbClr val="E0303A"/>
                </a:solidFill>
                <a:latin typeface="Arial" pitchFamily="34" charset="0"/>
                <a:ea typeface="Arial" pitchFamily="34" charset="-122"/>
                <a:cs typeface="Arial" pitchFamily="34" charset="-120"/>
              </a:rPr>
              <a:t>CLIENT</a:t>
            </a:r>
            <a:endParaRPr lang="en-US" sz="1100" dirty="0"/>
          </a:p>
        </p:txBody>
      </p:sp>
      <p:sp>
        <p:nvSpPr>
          <p:cNvPr id="10" name="Text 7"/>
          <p:cNvSpPr txBox="1"/>
          <p:nvPr/>
        </p:nvSpPr>
        <p:spPr>
          <a:xfrm>
            <a:off x="7040880" y="2578608"/>
            <a:ext cx="4480560" cy="402336"/>
          </a:xfrm>
          <a:prstGeom prst="rect">
            <a:avLst/>
          </a:prstGeom>
          <a:noFill/>
          <a:ln/>
        </p:spPr>
        <p:txBody>
          <a:bodyPr wrap="square" lIns="0" tIns="0" rIns="0" bIns="0" rtlCol="0" anchor="ctr"/>
          <a:lstStyle/>
          <a:p>
            <a:pPr indent="0" marL="0">
              <a:buNone/>
            </a:pPr>
            <a:r>
              <a:rPr lang="en-US" sz="1150" dirty="0">
                <a:solidFill>
                  <a:srgbClr val="F2EFE6"/>
                </a:solidFill>
                <a:latin typeface="Calibri" pitchFamily="34" charset="0"/>
                <a:ea typeface="Calibri" pitchFamily="34" charset="-122"/>
                <a:cs typeface="Calibri" pitchFamily="34" charset="-120"/>
              </a:rPr>
              <a:t>Organisers' arena_client.py, unmodified, wrapped by our ThrottledArena</a:t>
            </a:r>
            <a:endParaRPr lang="en-US" sz="1150" dirty="0"/>
          </a:p>
        </p:txBody>
      </p:sp>
      <p:sp>
        <p:nvSpPr>
          <p:cNvPr id="11" name="Shape 8"/>
          <p:cNvSpPr/>
          <p:nvPr/>
        </p:nvSpPr>
        <p:spPr>
          <a:xfrm>
            <a:off x="6858000" y="3108960"/>
            <a:ext cx="4754880" cy="713232"/>
          </a:xfrm>
          <a:prstGeom prst="roundRect">
            <a:avLst>
              <a:gd name="adj" fmla="val 15385"/>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2" name="Text 9"/>
          <p:cNvSpPr txBox="1"/>
          <p:nvPr/>
        </p:nvSpPr>
        <p:spPr>
          <a:xfrm>
            <a:off x="7040880" y="3163824"/>
            <a:ext cx="4389120" cy="256032"/>
          </a:xfrm>
          <a:prstGeom prst="rect">
            <a:avLst/>
          </a:prstGeom>
          <a:noFill/>
          <a:ln/>
        </p:spPr>
        <p:txBody>
          <a:bodyPr wrap="square" lIns="0" tIns="0" rIns="0" bIns="0" rtlCol="0" anchor="ctr"/>
          <a:lstStyle/>
          <a:p>
            <a:pPr indent="0" marL="0">
              <a:buNone/>
            </a:pPr>
            <a:r>
              <a:rPr lang="en-US" sz="1100" b="1" spc="200" kern="0" dirty="0">
                <a:solidFill>
                  <a:srgbClr val="E0303A"/>
                </a:solidFill>
                <a:latin typeface="Arial" pitchFamily="34" charset="0"/>
                <a:ea typeface="Arial" pitchFamily="34" charset="-122"/>
                <a:cs typeface="Arial" pitchFamily="34" charset="-120"/>
              </a:rPr>
              <a:t>LLM</a:t>
            </a:r>
            <a:endParaRPr lang="en-US" sz="1100" dirty="0"/>
          </a:p>
        </p:txBody>
      </p:sp>
      <p:sp>
        <p:nvSpPr>
          <p:cNvPr id="13" name="Text 10"/>
          <p:cNvSpPr txBox="1"/>
          <p:nvPr/>
        </p:nvSpPr>
        <p:spPr>
          <a:xfrm>
            <a:off x="7040880" y="3401568"/>
            <a:ext cx="4480560" cy="402336"/>
          </a:xfrm>
          <a:prstGeom prst="rect">
            <a:avLst/>
          </a:prstGeom>
          <a:noFill/>
          <a:ln/>
        </p:spPr>
        <p:txBody>
          <a:bodyPr wrap="square" lIns="0" tIns="0" rIns="0" bIns="0" rtlCol="0" anchor="ctr"/>
          <a:lstStyle/>
          <a:p>
            <a:pPr indent="0" marL="0">
              <a:buNone/>
            </a:pPr>
            <a:r>
              <a:rPr lang="en-US" sz="1150" dirty="0">
                <a:solidFill>
                  <a:srgbClr val="F2EFE6"/>
                </a:solidFill>
                <a:latin typeface="Calibri" pitchFamily="34" charset="0"/>
                <a:ea typeface="Calibri" pitchFamily="34" charset="-122"/>
                <a:cs typeface="Calibri" pitchFamily="34" charset="-120"/>
              </a:rPr>
              <a:t>Arena's hosted /reason endpoint, used only to score recruiter notes</a:t>
            </a:r>
            <a:endParaRPr lang="en-US" sz="1150" dirty="0"/>
          </a:p>
        </p:txBody>
      </p:sp>
      <p:sp>
        <p:nvSpPr>
          <p:cNvPr id="14" name="Shape 11"/>
          <p:cNvSpPr/>
          <p:nvPr/>
        </p:nvSpPr>
        <p:spPr>
          <a:xfrm>
            <a:off x="6858000" y="3931920"/>
            <a:ext cx="4754880" cy="713232"/>
          </a:xfrm>
          <a:prstGeom prst="roundRect">
            <a:avLst>
              <a:gd name="adj" fmla="val 15385"/>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5" name="Text 12"/>
          <p:cNvSpPr txBox="1"/>
          <p:nvPr/>
        </p:nvSpPr>
        <p:spPr>
          <a:xfrm>
            <a:off x="7040880" y="3986784"/>
            <a:ext cx="4389120" cy="256032"/>
          </a:xfrm>
          <a:prstGeom prst="rect">
            <a:avLst/>
          </a:prstGeom>
          <a:noFill/>
          <a:ln/>
        </p:spPr>
        <p:txBody>
          <a:bodyPr wrap="square" lIns="0" tIns="0" rIns="0" bIns="0" rtlCol="0" anchor="ctr"/>
          <a:lstStyle/>
          <a:p>
            <a:pPr indent="0" marL="0">
              <a:buNone/>
            </a:pPr>
            <a:r>
              <a:rPr lang="en-US" sz="1100" b="1" spc="200" kern="0" dirty="0">
                <a:solidFill>
                  <a:srgbClr val="E0303A"/>
                </a:solidFill>
                <a:latin typeface="Arial" pitchFamily="34" charset="0"/>
                <a:ea typeface="Arial" pitchFamily="34" charset="-122"/>
                <a:cs typeface="Arial" pitchFamily="34" charset="-120"/>
              </a:rPr>
              <a:t>RUNTIME</a:t>
            </a:r>
            <a:endParaRPr lang="en-US" sz="1100" dirty="0"/>
          </a:p>
        </p:txBody>
      </p:sp>
      <p:sp>
        <p:nvSpPr>
          <p:cNvPr id="16" name="Text 13"/>
          <p:cNvSpPr txBox="1"/>
          <p:nvPr/>
        </p:nvSpPr>
        <p:spPr>
          <a:xfrm>
            <a:off x="7040880" y="4224528"/>
            <a:ext cx="4480560" cy="402336"/>
          </a:xfrm>
          <a:prstGeom prst="rect">
            <a:avLst/>
          </a:prstGeom>
          <a:noFill/>
          <a:ln/>
        </p:spPr>
        <p:txBody>
          <a:bodyPr wrap="square" lIns="0" tIns="0" rIns="0" bIns="0" rtlCol="0" anchor="ctr"/>
          <a:lstStyle/>
          <a:p>
            <a:pPr indent="0" marL="0">
              <a:buNone/>
            </a:pPr>
            <a:r>
              <a:rPr lang="en-US" sz="1150" dirty="0">
                <a:solidFill>
                  <a:srgbClr val="F2EFE6"/>
                </a:solidFill>
                <a:latin typeface="Calibri" pitchFamily="34" charset="0"/>
                <a:ea typeface="Calibri" pitchFamily="34" charset="-122"/>
                <a:cs typeface="Calibri" pitchFamily="34" charset="-120"/>
              </a:rPr>
              <a:t>Team laptop · nohup + caffeinate so it survives and never sleeps</a:t>
            </a:r>
            <a:endParaRPr lang="en-US" sz="1150" dirty="0"/>
          </a:p>
        </p:txBody>
      </p:sp>
      <p:sp>
        <p:nvSpPr>
          <p:cNvPr id="17" name="Shape 14"/>
          <p:cNvSpPr/>
          <p:nvPr/>
        </p:nvSpPr>
        <p:spPr>
          <a:xfrm>
            <a:off x="6858000" y="4754880"/>
            <a:ext cx="4754880" cy="713232"/>
          </a:xfrm>
          <a:prstGeom prst="roundRect">
            <a:avLst>
              <a:gd name="adj" fmla="val 15385"/>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8" name="Text 15"/>
          <p:cNvSpPr txBox="1"/>
          <p:nvPr/>
        </p:nvSpPr>
        <p:spPr>
          <a:xfrm>
            <a:off x="7040880" y="4809744"/>
            <a:ext cx="4389120" cy="256032"/>
          </a:xfrm>
          <a:prstGeom prst="rect">
            <a:avLst/>
          </a:prstGeom>
          <a:noFill/>
          <a:ln/>
        </p:spPr>
        <p:txBody>
          <a:bodyPr wrap="square" lIns="0" tIns="0" rIns="0" bIns="0" rtlCol="0" anchor="ctr"/>
          <a:lstStyle/>
          <a:p>
            <a:pPr indent="0" marL="0">
              <a:buNone/>
            </a:pPr>
            <a:r>
              <a:rPr lang="en-US" sz="1100" b="1" spc="200" kern="0" dirty="0">
                <a:solidFill>
                  <a:srgbClr val="E0303A"/>
                </a:solidFill>
                <a:latin typeface="Arial" pitchFamily="34" charset="0"/>
                <a:ea typeface="Arial" pitchFamily="34" charset="-122"/>
                <a:cs typeface="Arial" pitchFamily="34" charset="-120"/>
              </a:rPr>
              <a:t>TESTING</a:t>
            </a:r>
            <a:endParaRPr lang="en-US" sz="1100" dirty="0"/>
          </a:p>
        </p:txBody>
      </p:sp>
      <p:sp>
        <p:nvSpPr>
          <p:cNvPr id="19" name="Text 16"/>
          <p:cNvSpPr txBox="1"/>
          <p:nvPr/>
        </p:nvSpPr>
        <p:spPr>
          <a:xfrm>
            <a:off x="7040880" y="5047488"/>
            <a:ext cx="4480560" cy="402336"/>
          </a:xfrm>
          <a:prstGeom prst="rect">
            <a:avLst/>
          </a:prstGeom>
          <a:noFill/>
          <a:ln/>
        </p:spPr>
        <p:txBody>
          <a:bodyPr wrap="square" lIns="0" tIns="0" rIns="0" bIns="0" rtlCol="0" anchor="ctr"/>
          <a:lstStyle/>
          <a:p>
            <a:pPr indent="0" marL="0">
              <a:buNone/>
            </a:pPr>
            <a:r>
              <a:rPr lang="en-US" sz="1150" dirty="0">
                <a:solidFill>
                  <a:srgbClr val="F2EFE6"/>
                </a:solidFill>
                <a:latin typeface="Calibri" pitchFamily="34" charset="0"/>
                <a:ea typeface="Calibri" pitchFamily="34" charset="-122"/>
                <a:cs typeface="Calibri" pitchFamily="34" charset="-120"/>
              </a:rPr>
              <a:t>Our own mock arena with the real formats: phases, rejections, restarts</a:t>
            </a:r>
            <a:endParaRPr lang="en-US" sz="1150" dirty="0"/>
          </a:p>
        </p:txBody>
      </p:sp>
      <p:sp>
        <p:nvSpPr>
          <p:cNvPr id="20" name="Shape 17"/>
          <p:cNvSpPr/>
          <p:nvPr/>
        </p:nvSpPr>
        <p:spPr>
          <a:xfrm>
            <a:off x="6858000" y="5577840"/>
            <a:ext cx="4754880" cy="713232"/>
          </a:xfrm>
          <a:prstGeom prst="roundRect">
            <a:avLst>
              <a:gd name="adj" fmla="val 15385"/>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21" name="Text 18"/>
          <p:cNvSpPr txBox="1"/>
          <p:nvPr/>
        </p:nvSpPr>
        <p:spPr>
          <a:xfrm>
            <a:off x="7040880" y="5632704"/>
            <a:ext cx="4389120" cy="256032"/>
          </a:xfrm>
          <a:prstGeom prst="rect">
            <a:avLst/>
          </a:prstGeom>
          <a:noFill/>
          <a:ln/>
        </p:spPr>
        <p:txBody>
          <a:bodyPr wrap="square" lIns="0" tIns="0" rIns="0" bIns="0" rtlCol="0" anchor="ctr"/>
          <a:lstStyle/>
          <a:p>
            <a:pPr indent="0" marL="0">
              <a:buNone/>
            </a:pPr>
            <a:r>
              <a:rPr lang="en-US" sz="1100" b="1" spc="200" kern="0" dirty="0">
                <a:solidFill>
                  <a:srgbClr val="E0303A"/>
                </a:solidFill>
                <a:latin typeface="Arial" pitchFamily="34" charset="0"/>
                <a:ea typeface="Arial" pitchFamily="34" charset="-122"/>
                <a:cs typeface="Arial" pitchFamily="34" charset="-120"/>
              </a:rPr>
              <a:t>AI ASSISTANT</a:t>
            </a:r>
            <a:endParaRPr lang="en-US" sz="1100" dirty="0"/>
          </a:p>
        </p:txBody>
      </p:sp>
      <p:sp>
        <p:nvSpPr>
          <p:cNvPr id="22" name="Text 19"/>
          <p:cNvSpPr txBox="1"/>
          <p:nvPr/>
        </p:nvSpPr>
        <p:spPr>
          <a:xfrm>
            <a:off x="7040880" y="5870448"/>
            <a:ext cx="4480560" cy="402336"/>
          </a:xfrm>
          <a:prstGeom prst="rect">
            <a:avLst/>
          </a:prstGeom>
          <a:noFill/>
          <a:ln/>
        </p:spPr>
        <p:txBody>
          <a:bodyPr wrap="square" lIns="0" tIns="0" rIns="0" bIns="0" rtlCol="0" anchor="ctr"/>
          <a:lstStyle/>
          <a:p>
            <a:pPr indent="0" marL="0">
              <a:buNone/>
            </a:pPr>
            <a:r>
              <a:rPr lang="en-US" sz="1150" dirty="0">
                <a:solidFill>
                  <a:srgbClr val="F2EFE6"/>
                </a:solidFill>
                <a:latin typeface="Calibri" pitchFamily="34" charset="0"/>
                <a:ea typeface="Calibri" pitchFamily="34" charset="-122"/>
                <a:cs typeface="Calibri" pitchFamily="34" charset="-120"/>
              </a:rPr>
              <a:t>Claude Code (Anthropic), declared as required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EDGE CASES</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Built so nothing breaks, and nothing is paid twice.</a:t>
            </a:r>
            <a:endParaRPr lang="en-US" sz="3400" dirty="0"/>
          </a:p>
        </p:txBody>
      </p:sp>
      <p:sp>
        <p:nvSpPr>
          <p:cNvPr id="4" name="Shape 2"/>
          <p:cNvSpPr/>
          <p:nvPr/>
        </p:nvSpPr>
        <p:spPr>
          <a:xfrm>
            <a:off x="548640" y="1645920"/>
            <a:ext cx="3520440" cy="2148840"/>
          </a:xfrm>
          <a:prstGeom prst="roundRect">
            <a:avLst>
              <a:gd name="adj" fmla="val 510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5" name="Image 0" descr="/private/tmp/claude-501/-Users-rimshachaudhary/39e555b3-5a08-4f48-ba14-96d27de05f30/scratchpad/deck/sph_2BB3A3.png">    </p:cNvPr>
          <p:cNvPicPr>
            <a:picLocks noChangeAspect="1"/>
          </p:cNvPicPr>
          <p:nvPr/>
        </p:nvPicPr>
        <p:blipFill>
          <a:blip r:embed="rId1"/>
          <a:stretch>
            <a:fillRect/>
          </a:stretch>
        </p:blipFill>
        <p:spPr>
          <a:xfrm>
            <a:off x="772160" y="1889760"/>
            <a:ext cx="650240" cy="650240"/>
          </a:xfrm>
          <a:prstGeom prst="rect">
            <a:avLst/>
          </a:prstGeom>
        </p:spPr>
      </p:pic>
      <p:sp>
        <p:nvSpPr>
          <p:cNvPr id="6" name="Text 3"/>
          <p:cNvSpPr txBox="1"/>
          <p:nvPr/>
        </p:nvSpPr>
        <p:spPr>
          <a:xfrm>
            <a:off x="822960" y="19202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4"/>
          <p:cNvSpPr txBox="1"/>
          <p:nvPr/>
        </p:nvSpPr>
        <p:spPr>
          <a:xfrm>
            <a:off x="1508760" y="1965960"/>
            <a:ext cx="2377440" cy="457200"/>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Rate limits</a:t>
            </a:r>
            <a:endParaRPr lang="en-US" sz="1700" dirty="0"/>
          </a:p>
        </p:txBody>
      </p:sp>
      <p:sp>
        <p:nvSpPr>
          <p:cNvPr id="8" name="Text 5"/>
          <p:cNvSpPr txBox="1"/>
          <p:nvPr/>
        </p:nvSpPr>
        <p:spPr>
          <a:xfrm>
            <a:off x="822960" y="2651760"/>
            <a:ext cx="3017520" cy="1005840"/>
          </a:xfrm>
          <a:prstGeom prst="rect">
            <a:avLst/>
          </a:prstGeom>
          <a:noFill/>
          <a:ln/>
        </p:spPr>
        <p:txBody>
          <a:bodyPr wrap="square" lIns="0" tIns="0" rIns="0" bIns="0" rtlCol="0" anchor="t"/>
          <a:lstStyle/>
          <a:p>
            <a:pPr indent="0" marL="0">
              <a:buNone/>
            </a:pPr>
            <a:r>
              <a:rPr lang="en-US" sz="1300" dirty="0">
                <a:solidFill>
                  <a:srgbClr val="9A9486"/>
                </a:solidFill>
                <a:latin typeface="Calibri" pitchFamily="34" charset="0"/>
                <a:ea typeface="Calibri" pitchFamily="34" charset="-122"/>
                <a:cs typeface="Calibri" pitchFamily="34" charset="-120"/>
              </a:rPr>
              <a:t>Our own 8.5 req/s gate below the 10 req/s limit. We never needed a 429 retry.</a:t>
            </a:r>
            <a:endParaRPr lang="en-US" sz="1300" dirty="0"/>
          </a:p>
        </p:txBody>
      </p:sp>
      <p:sp>
        <p:nvSpPr>
          <p:cNvPr id="9" name="Shape 6"/>
          <p:cNvSpPr/>
          <p:nvPr/>
        </p:nvSpPr>
        <p:spPr>
          <a:xfrm>
            <a:off x="4279392" y="1645920"/>
            <a:ext cx="3520440" cy="2148840"/>
          </a:xfrm>
          <a:prstGeom prst="roundRect">
            <a:avLst>
              <a:gd name="adj" fmla="val 510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0" name="Image 1" descr="/private/tmp/claude-501/-Users-rimshachaudhary/39e555b3-5a08-4f48-ba14-96d27de05f30/scratchpad/deck/sph_5FA8FF.png">    </p:cNvPr>
          <p:cNvPicPr>
            <a:picLocks noChangeAspect="1"/>
          </p:cNvPicPr>
          <p:nvPr/>
        </p:nvPicPr>
        <p:blipFill>
          <a:blip r:embed="rId2"/>
          <a:stretch>
            <a:fillRect/>
          </a:stretch>
        </p:blipFill>
        <p:spPr>
          <a:xfrm>
            <a:off x="4502912" y="1889760"/>
            <a:ext cx="650240" cy="650240"/>
          </a:xfrm>
          <a:prstGeom prst="rect">
            <a:avLst/>
          </a:prstGeom>
        </p:spPr>
      </p:pic>
      <p:sp>
        <p:nvSpPr>
          <p:cNvPr id="11" name="Text 7"/>
          <p:cNvSpPr txBox="1"/>
          <p:nvPr/>
        </p:nvSpPr>
        <p:spPr>
          <a:xfrm>
            <a:off x="4553712" y="19202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8"/>
          <p:cNvSpPr txBox="1"/>
          <p:nvPr/>
        </p:nvSpPr>
        <p:spPr>
          <a:xfrm>
            <a:off x="5239512" y="1965960"/>
            <a:ext cx="2377440" cy="457200"/>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Crash / restart</a:t>
            </a:r>
            <a:endParaRPr lang="en-US" sz="1700" dirty="0"/>
          </a:p>
        </p:txBody>
      </p:sp>
      <p:sp>
        <p:nvSpPr>
          <p:cNvPr id="13" name="Text 9"/>
          <p:cNvSpPr txBox="1"/>
          <p:nvPr/>
        </p:nvSpPr>
        <p:spPr>
          <a:xfrm>
            <a:off x="4553712" y="2651760"/>
            <a:ext cx="3017520" cy="1005840"/>
          </a:xfrm>
          <a:prstGeom prst="rect">
            <a:avLst/>
          </a:prstGeom>
          <a:noFill/>
          <a:ln/>
        </p:spPr>
        <p:txBody>
          <a:bodyPr wrap="square" lIns="0" tIns="0" rIns="0" bIns="0" rtlCol="0" anchor="t"/>
          <a:lstStyle/>
          <a:p>
            <a:pPr indent="0" marL="0">
              <a:buNone/>
            </a:pPr>
            <a:r>
              <a:rPr lang="en-US" sz="1300" dirty="0">
                <a:solidFill>
                  <a:srgbClr val="9A9486"/>
                </a:solidFill>
                <a:latin typeface="Calibri" pitchFamily="34" charset="0"/>
                <a:ea typeface="Calibri" pitchFamily="34" charset="-122"/>
                <a:cs typeface="Calibri" pitchFamily="34" charset="-120"/>
              </a:rPr>
              <a:t>Atomic state.json after every step. Two restarts, zero re-buying.</a:t>
            </a:r>
            <a:endParaRPr lang="en-US" sz="1300" dirty="0"/>
          </a:p>
        </p:txBody>
      </p:sp>
      <p:sp>
        <p:nvSpPr>
          <p:cNvPr id="14" name="Shape 10"/>
          <p:cNvSpPr/>
          <p:nvPr/>
        </p:nvSpPr>
        <p:spPr>
          <a:xfrm>
            <a:off x="8010144" y="1645920"/>
            <a:ext cx="3520440" cy="2148840"/>
          </a:xfrm>
          <a:prstGeom prst="roundRect">
            <a:avLst>
              <a:gd name="adj" fmla="val 510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15" name="Image 2" descr="/private/tmp/claude-501/-Users-rimshachaudhary/39e555b3-5a08-4f48-ba14-96d27de05f30/scratchpad/deck/sph_F2B33D.png">    </p:cNvPr>
          <p:cNvPicPr>
            <a:picLocks noChangeAspect="1"/>
          </p:cNvPicPr>
          <p:nvPr/>
        </p:nvPicPr>
        <p:blipFill>
          <a:blip r:embed="rId3"/>
          <a:stretch>
            <a:fillRect/>
          </a:stretch>
        </p:blipFill>
        <p:spPr>
          <a:xfrm>
            <a:off x="8233664" y="1889760"/>
            <a:ext cx="650240" cy="650240"/>
          </a:xfrm>
          <a:prstGeom prst="rect">
            <a:avLst/>
          </a:prstGeom>
        </p:spPr>
      </p:pic>
      <p:sp>
        <p:nvSpPr>
          <p:cNvPr id="16" name="Text 11"/>
          <p:cNvSpPr txBox="1"/>
          <p:nvPr/>
        </p:nvSpPr>
        <p:spPr>
          <a:xfrm>
            <a:off x="8284464" y="19202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2"/>
          <p:cNvSpPr txBox="1"/>
          <p:nvPr/>
        </p:nvSpPr>
        <p:spPr>
          <a:xfrm>
            <a:off x="8970264" y="1965960"/>
            <a:ext cx="2377440" cy="457200"/>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API errors</a:t>
            </a:r>
            <a:endParaRPr lang="en-US" sz="1700" dirty="0"/>
          </a:p>
        </p:txBody>
      </p:sp>
      <p:sp>
        <p:nvSpPr>
          <p:cNvPr id="18" name="Text 13"/>
          <p:cNvSpPr txBox="1"/>
          <p:nvPr/>
        </p:nvSpPr>
        <p:spPr>
          <a:xfrm>
            <a:off x="8284464" y="2651760"/>
            <a:ext cx="3017520" cy="1005840"/>
          </a:xfrm>
          <a:prstGeom prst="rect">
            <a:avLst/>
          </a:prstGeom>
          <a:noFill/>
          <a:ln/>
        </p:spPr>
        <p:txBody>
          <a:bodyPr wrap="square" lIns="0" tIns="0" rIns="0" bIns="0" rtlCol="0" anchor="t"/>
          <a:lstStyle/>
          <a:p>
            <a:pPr indent="0" marL="0">
              <a:buNone/>
            </a:pPr>
            <a:r>
              <a:rPr lang="en-US" sz="1300" dirty="0">
                <a:solidFill>
                  <a:srgbClr val="9A9486"/>
                </a:solidFill>
                <a:latin typeface="Calibri" pitchFamily="34" charset="0"/>
                <a:ea typeface="Calibri" pitchFamily="34" charset="-122"/>
                <a:cs typeface="Calibri" pitchFamily="34" charset="-120"/>
              </a:rPr>
              <a:t>Client retries network and 5xx errors; one bad batch never stops the rest.</a:t>
            </a:r>
            <a:endParaRPr lang="en-US" sz="1300" dirty="0"/>
          </a:p>
        </p:txBody>
      </p:sp>
      <p:sp>
        <p:nvSpPr>
          <p:cNvPr id="19" name="Shape 14"/>
          <p:cNvSpPr/>
          <p:nvPr/>
        </p:nvSpPr>
        <p:spPr>
          <a:xfrm>
            <a:off x="548640" y="4023360"/>
            <a:ext cx="3520440" cy="2148840"/>
          </a:xfrm>
          <a:prstGeom prst="roundRect">
            <a:avLst>
              <a:gd name="adj" fmla="val 510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20" name="Image 3" descr="/private/tmp/claude-501/-Users-rimshachaudhary/39e555b3-5a08-4f48-ba14-96d27de05f30/scratchpad/deck/sph_8A7CFF.png">    </p:cNvPr>
          <p:cNvPicPr>
            <a:picLocks noChangeAspect="1"/>
          </p:cNvPicPr>
          <p:nvPr/>
        </p:nvPicPr>
        <p:blipFill>
          <a:blip r:embed="rId4"/>
          <a:stretch>
            <a:fillRect/>
          </a:stretch>
        </p:blipFill>
        <p:spPr>
          <a:xfrm>
            <a:off x="772160" y="4267200"/>
            <a:ext cx="650240" cy="650240"/>
          </a:xfrm>
          <a:prstGeom prst="rect">
            <a:avLst/>
          </a:prstGeom>
        </p:spPr>
      </p:pic>
      <p:sp>
        <p:nvSpPr>
          <p:cNvPr id="21" name="Text 15"/>
          <p:cNvSpPr txBox="1"/>
          <p:nvPr/>
        </p:nvSpPr>
        <p:spPr>
          <a:xfrm>
            <a:off x="822960" y="4297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16"/>
          <p:cNvSpPr txBox="1"/>
          <p:nvPr/>
        </p:nvSpPr>
        <p:spPr>
          <a:xfrm>
            <a:off x="1508760" y="4343400"/>
            <a:ext cx="2377440" cy="457200"/>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Phase glitches</a:t>
            </a:r>
            <a:endParaRPr lang="en-US" sz="1700" dirty="0"/>
          </a:p>
        </p:txBody>
      </p:sp>
      <p:sp>
        <p:nvSpPr>
          <p:cNvPr id="23" name="Text 17"/>
          <p:cNvSpPr txBox="1"/>
          <p:nvPr/>
        </p:nvSpPr>
        <p:spPr>
          <a:xfrm>
            <a:off x="822960" y="5029200"/>
            <a:ext cx="3017520" cy="1005840"/>
          </a:xfrm>
          <a:prstGeom prst="rect">
            <a:avLst/>
          </a:prstGeom>
          <a:noFill/>
          <a:ln/>
        </p:spPr>
        <p:txBody>
          <a:bodyPr wrap="square" lIns="0" tIns="0" rIns="0" bIns="0" rtlCol="0" anchor="t"/>
          <a:lstStyle/>
          <a:p>
            <a:pPr indent="0" marL="0">
              <a:buNone/>
            </a:pPr>
            <a:r>
              <a:rPr lang="en-US" sz="1300" dirty="0">
                <a:solidFill>
                  <a:srgbClr val="9A9486"/>
                </a:solidFill>
                <a:latin typeface="Calibri" pitchFamily="34" charset="0"/>
                <a:ea typeface="Calibri" pitchFamily="34" charset="-122"/>
                <a:cs typeface="Calibri" pitchFamily="34" charset="-120"/>
              </a:rPr>
              <a:t>409 → re-read the phase. A 'closed' pause no longer ends the run.</a:t>
            </a:r>
            <a:endParaRPr lang="en-US" sz="1300" dirty="0"/>
          </a:p>
        </p:txBody>
      </p:sp>
      <p:sp>
        <p:nvSpPr>
          <p:cNvPr id="24" name="Shape 18"/>
          <p:cNvSpPr/>
          <p:nvPr/>
        </p:nvSpPr>
        <p:spPr>
          <a:xfrm>
            <a:off x="4279392" y="4023360"/>
            <a:ext cx="3520440" cy="2148840"/>
          </a:xfrm>
          <a:prstGeom prst="roundRect">
            <a:avLst>
              <a:gd name="adj" fmla="val 510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25" name="Image 4" descr="/private/tmp/claude-501/-Users-rimshachaudhary/39e555b3-5a08-4f48-ba14-96d27de05f30/scratchpad/deck/sph_E0303A.png">    </p:cNvPr>
          <p:cNvPicPr>
            <a:picLocks noChangeAspect="1"/>
          </p:cNvPicPr>
          <p:nvPr/>
        </p:nvPicPr>
        <p:blipFill>
          <a:blip r:embed="rId5"/>
          <a:stretch>
            <a:fillRect/>
          </a:stretch>
        </p:blipFill>
        <p:spPr>
          <a:xfrm>
            <a:off x="4502912" y="4267200"/>
            <a:ext cx="650240" cy="650240"/>
          </a:xfrm>
          <a:prstGeom prst="rect">
            <a:avLst/>
          </a:prstGeom>
        </p:spPr>
      </p:pic>
      <p:sp>
        <p:nvSpPr>
          <p:cNvPr id="26" name="Text 19"/>
          <p:cNvSpPr txBox="1"/>
          <p:nvPr/>
        </p:nvSpPr>
        <p:spPr>
          <a:xfrm>
            <a:off x="4553712" y="4297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7" name="Text 20"/>
          <p:cNvSpPr txBox="1"/>
          <p:nvPr/>
        </p:nvSpPr>
        <p:spPr>
          <a:xfrm>
            <a:off x="5239512" y="4343400"/>
            <a:ext cx="2377440" cy="457200"/>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Rejected offers</a:t>
            </a:r>
            <a:endParaRPr lang="en-US" sz="1700" dirty="0"/>
          </a:p>
        </p:txBody>
      </p:sp>
      <p:sp>
        <p:nvSpPr>
          <p:cNvPr id="28" name="Text 21"/>
          <p:cNvSpPr txBox="1"/>
          <p:nvPr/>
        </p:nvSpPr>
        <p:spPr>
          <a:xfrm>
            <a:off x="4553712" y="5029200"/>
            <a:ext cx="3017520" cy="1005840"/>
          </a:xfrm>
          <a:prstGeom prst="rect">
            <a:avLst/>
          </a:prstGeom>
          <a:noFill/>
          <a:ln/>
        </p:spPr>
        <p:txBody>
          <a:bodyPr wrap="square" lIns="0" tIns="0" rIns="0" bIns="0" rtlCol="0" anchor="t"/>
          <a:lstStyle/>
          <a:p>
            <a:pPr indent="0" marL="0">
              <a:buNone/>
            </a:pPr>
            <a:r>
              <a:rPr lang="en-US" sz="1300" dirty="0">
                <a:solidFill>
                  <a:srgbClr val="9A9486"/>
                </a:solidFill>
                <a:latin typeface="Calibri" pitchFamily="34" charset="0"/>
                <a:ea typeface="Calibri" pitchFamily="34" charset="-122"/>
                <a:cs typeface="Calibri" pitchFamily="34" charset="-120"/>
              </a:rPr>
              <a:t>Fall through to backups; the candidate is marked so we never pay twice.</a:t>
            </a:r>
            <a:endParaRPr lang="en-US" sz="1300" dirty="0"/>
          </a:p>
        </p:txBody>
      </p:sp>
      <p:sp>
        <p:nvSpPr>
          <p:cNvPr id="29" name="Shape 22"/>
          <p:cNvSpPr/>
          <p:nvPr/>
        </p:nvSpPr>
        <p:spPr>
          <a:xfrm>
            <a:off x="8010144" y="4023360"/>
            <a:ext cx="3520440" cy="2148840"/>
          </a:xfrm>
          <a:prstGeom prst="roundRect">
            <a:avLst>
              <a:gd name="adj" fmla="val 5106"/>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pic>
        <p:nvPicPr>
          <p:cNvPr id="30" name="Image 5" descr="/private/tmp/claude-501/-Users-rimshachaudhary/39e555b3-5a08-4f48-ba14-96d27de05f30/scratchpad/deck/sph_5E6480.png">    </p:cNvPr>
          <p:cNvPicPr>
            <a:picLocks noChangeAspect="1"/>
          </p:cNvPicPr>
          <p:nvPr/>
        </p:nvPicPr>
        <p:blipFill>
          <a:blip r:embed="rId6"/>
          <a:stretch>
            <a:fillRect/>
          </a:stretch>
        </p:blipFill>
        <p:spPr>
          <a:xfrm>
            <a:off x="8233664" y="4267200"/>
            <a:ext cx="650240" cy="650240"/>
          </a:xfrm>
          <a:prstGeom prst="rect">
            <a:avLst/>
          </a:prstGeom>
        </p:spPr>
      </p:pic>
      <p:sp>
        <p:nvSpPr>
          <p:cNvPr id="31" name="Text 23"/>
          <p:cNvSpPr txBox="1"/>
          <p:nvPr/>
        </p:nvSpPr>
        <p:spPr>
          <a:xfrm>
            <a:off x="8284464" y="4297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2" name="Text 24"/>
          <p:cNvSpPr txBox="1"/>
          <p:nvPr/>
        </p:nvSpPr>
        <p:spPr>
          <a:xfrm>
            <a:off x="8970264" y="4343400"/>
            <a:ext cx="2377440" cy="457200"/>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Out of credits</a:t>
            </a:r>
            <a:endParaRPr lang="en-US" sz="1700" dirty="0"/>
          </a:p>
        </p:txBody>
      </p:sp>
      <p:sp>
        <p:nvSpPr>
          <p:cNvPr id="33" name="Text 25"/>
          <p:cNvSpPr txBox="1"/>
          <p:nvPr/>
        </p:nvSpPr>
        <p:spPr>
          <a:xfrm>
            <a:off x="8284464" y="5029200"/>
            <a:ext cx="3017520" cy="1005840"/>
          </a:xfrm>
          <a:prstGeom prst="rect">
            <a:avLst/>
          </a:prstGeom>
          <a:noFill/>
          <a:ln/>
        </p:spPr>
        <p:txBody>
          <a:bodyPr wrap="square" lIns="0" tIns="0" rIns="0" bIns="0" rtlCol="0" anchor="t"/>
          <a:lstStyle/>
          <a:p>
            <a:pPr indent="0" marL="0">
              <a:buNone/>
            </a:pPr>
            <a:r>
              <a:rPr lang="en-US" sz="1300" dirty="0">
                <a:solidFill>
                  <a:srgbClr val="9A9486"/>
                </a:solidFill>
                <a:latin typeface="Calibri" pitchFamily="34" charset="0"/>
                <a:ea typeface="Calibri" pitchFamily="34" charset="-122"/>
                <a:cs typeface="Calibri" pitchFamily="34" charset="-120"/>
              </a:rPr>
              <a:t>Final: stop metered calls and hold, logging free ledger calls.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400" kern="0" dirty="0">
                <a:solidFill>
                  <a:srgbClr val="E0303A"/>
                </a:solidFill>
                <a:latin typeface="Arial" pitchFamily="34" charset="0"/>
                <a:ea typeface="Arial" pitchFamily="34" charset="-122"/>
                <a:cs typeface="Arial" pitchFamily="34" charset="-120"/>
              </a:rPr>
              <a:t>HONEST LESSONS</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ctr"/>
          <a:lstStyle/>
          <a:p>
            <a:pPr indent="0" marL="0">
              <a:buNone/>
            </a:pPr>
            <a:r>
              <a:rPr lang="en-US" sz="3400" b="1" dirty="0">
                <a:solidFill>
                  <a:srgbClr val="F2EFE6"/>
                </a:solidFill>
                <a:latin typeface="Arial" pitchFamily="34" charset="0"/>
                <a:ea typeface="Arial" pitchFamily="34" charset="-122"/>
                <a:cs typeface="Arial" pitchFamily="34" charset="-120"/>
              </a:rPr>
              <a:t>What didn't work, and what we'd do next.</a:t>
            </a:r>
            <a:endParaRPr lang="en-US" sz="3400" dirty="0"/>
          </a:p>
        </p:txBody>
      </p:sp>
      <p:sp>
        <p:nvSpPr>
          <p:cNvPr id="4" name="Shape 2"/>
          <p:cNvSpPr/>
          <p:nvPr/>
        </p:nvSpPr>
        <p:spPr>
          <a:xfrm>
            <a:off x="548640" y="1600200"/>
            <a:ext cx="5486400" cy="4754880"/>
          </a:xfrm>
          <a:prstGeom prst="roundRect">
            <a:avLst>
              <a:gd name="adj" fmla="val 2308"/>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5" name="Text 3"/>
          <p:cNvSpPr txBox="1"/>
          <p:nvPr/>
        </p:nvSpPr>
        <p:spPr>
          <a:xfrm>
            <a:off x="822960" y="1783080"/>
            <a:ext cx="4937760" cy="411480"/>
          </a:xfrm>
          <a:prstGeom prst="rect">
            <a:avLst/>
          </a:prstGeom>
          <a:noFill/>
          <a:ln/>
        </p:spPr>
        <p:txBody>
          <a:bodyPr wrap="square" lIns="0" tIns="0" rIns="0" bIns="0" rtlCol="0" anchor="ctr"/>
          <a:lstStyle/>
          <a:p>
            <a:pPr indent="0" marL="0">
              <a:buNone/>
            </a:pPr>
            <a:r>
              <a:rPr lang="en-US" sz="1900" b="1" dirty="0">
                <a:solidFill>
                  <a:srgbClr val="E0303A"/>
                </a:solidFill>
                <a:latin typeface="Arial" pitchFamily="34" charset="0"/>
                <a:ea typeface="Arial" pitchFamily="34" charset="-122"/>
                <a:cs typeface="Arial" pitchFamily="34" charset="-120"/>
              </a:rPr>
              <a:t>What didn't work</a:t>
            </a:r>
            <a:endParaRPr lang="en-US" sz="1900" dirty="0"/>
          </a:p>
        </p:txBody>
      </p:sp>
      <p:sp>
        <p:nvSpPr>
          <p:cNvPr id="6" name="Text 4"/>
          <p:cNvSpPr txBox="1"/>
          <p:nvPr/>
        </p:nvSpPr>
        <p:spPr>
          <a:xfrm>
            <a:off x="822960" y="2331720"/>
            <a:ext cx="4937760" cy="39319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F2EFE6"/>
                </a:solidFill>
                <a:latin typeface="Calibri" pitchFamily="34" charset="0"/>
                <a:ea typeface="Calibri" pitchFamily="34" charset="-122"/>
                <a:cs typeface="Calibri" pitchFamily="34" charset="-120"/>
              </a:rPr>
              <a:t>Template idea of ranking by skill count and trusting self-scores.</a:t>
            </a:r>
            <a:endParaRPr lang="en-US" sz="1350" dirty="0"/>
          </a:p>
          <a:p>
            <a:pPr marL="342900" indent="-342900">
              <a:spcAft>
                <a:spcPts val="800"/>
              </a:spcAft>
              <a:buSzPct val="100000"/>
              <a:buChar char="■"/>
            </a:pPr>
            <a:r>
              <a:rPr lang="en-US" sz="1350" dirty="0">
                <a:solidFill>
                  <a:srgbClr val="F2EFE6"/>
                </a:solidFill>
                <a:latin typeface="Calibri" pitchFamily="34" charset="0"/>
                <a:ea typeface="Calibri" pitchFamily="34" charset="-122"/>
                <a:cs typeface="Calibri" pitchFamily="34" charset="-120"/>
              </a:rPr>
              <a:t>Linear model fitted on all pairs was skewed by fakes (2.47·self − 152). On genuine only: 1.26·self − 30.7. No harm, since every signing was verified directly.</a:t>
            </a:r>
            <a:endParaRPr lang="en-US" sz="1350" dirty="0"/>
          </a:p>
          <a:p>
            <a:pPr marL="342900" indent="-342900">
              <a:spcAft>
                <a:spcPts val="800"/>
              </a:spcAft>
              <a:buSzPct val="100000"/>
              <a:buChar char="■"/>
            </a:pPr>
            <a:r>
              <a:rPr lang="en-US" sz="1350" dirty="0">
                <a:solidFill>
                  <a:srgbClr val="F2EFE6"/>
                </a:solidFill>
                <a:latin typeface="Calibri" pitchFamily="34" charset="0"/>
                <a:ea typeface="Calibri" pitchFamily="34" charset="-122"/>
                <a:cs typeface="Calibri" pitchFamily="34" charset="-120"/>
              </a:rPr>
              <a:t>Splitting skills on “/” broke a/b testing and ci/cd. Fixed before going live.</a:t>
            </a:r>
            <a:endParaRPr lang="en-US" sz="1350" dirty="0"/>
          </a:p>
          <a:p>
            <a:pPr marL="342900" indent="-342900">
              <a:spcAft>
                <a:spcPts val="800"/>
              </a:spcAft>
              <a:buSzPct val="100000"/>
              <a:buChar char="■"/>
            </a:pPr>
            <a:r>
              <a:rPr lang="en-US" sz="1350" dirty="0">
                <a:solidFill>
                  <a:srgbClr val="F2EFE6"/>
                </a:solidFill>
                <a:latin typeface="Calibri" pitchFamily="34" charset="0"/>
                <a:ea typeface="Calibri" pitchFamily="34" charset="-122"/>
                <a:cs typeface="Calibri" pitchFamily="34" charset="-120"/>
              </a:rPr>
              <a:t>Treating any 'closed' as the end: the 11:49 exit, fixed at 12:01.</a:t>
            </a:r>
            <a:endParaRPr lang="en-US" sz="1350" dirty="0"/>
          </a:p>
        </p:txBody>
      </p:sp>
      <p:sp>
        <p:nvSpPr>
          <p:cNvPr id="7" name="Shape 5"/>
          <p:cNvSpPr/>
          <p:nvPr/>
        </p:nvSpPr>
        <p:spPr>
          <a:xfrm>
            <a:off x="6309360" y="1600200"/>
            <a:ext cx="5303520" cy="4754880"/>
          </a:xfrm>
          <a:prstGeom prst="roundRect">
            <a:avLst>
              <a:gd name="adj" fmla="val 2308"/>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8" name="Text 6"/>
          <p:cNvSpPr txBox="1"/>
          <p:nvPr/>
        </p:nvSpPr>
        <p:spPr>
          <a:xfrm>
            <a:off x="6583680" y="1783080"/>
            <a:ext cx="4754880" cy="411480"/>
          </a:xfrm>
          <a:prstGeom prst="rect">
            <a:avLst/>
          </a:prstGeom>
          <a:noFill/>
          <a:ln/>
        </p:spPr>
        <p:txBody>
          <a:bodyPr wrap="square" lIns="0" tIns="0" rIns="0" bIns="0" rtlCol="0" anchor="ctr"/>
          <a:lstStyle/>
          <a:p>
            <a:pPr indent="0" marL="0">
              <a:buNone/>
            </a:pPr>
            <a:r>
              <a:rPr lang="en-US" sz="1900" b="1" dirty="0">
                <a:solidFill>
                  <a:srgbClr val="2BB3A3"/>
                </a:solidFill>
                <a:latin typeface="Arial" pitchFamily="34" charset="0"/>
                <a:ea typeface="Arial" pitchFamily="34" charset="-122"/>
                <a:cs typeface="Arial" pitchFamily="34" charset="-120"/>
              </a:rPr>
              <a:t>With two more hours</a:t>
            </a:r>
            <a:endParaRPr lang="en-US" sz="1900" dirty="0"/>
          </a:p>
        </p:txBody>
      </p:sp>
      <p:sp>
        <p:nvSpPr>
          <p:cNvPr id="9" name="Text 7"/>
          <p:cNvSpPr txBox="1"/>
          <p:nvPr/>
        </p:nvSpPr>
        <p:spPr>
          <a:xfrm>
            <a:off x="6583680" y="2331720"/>
            <a:ext cx="4754880" cy="39319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F2EFE6"/>
                </a:solidFill>
                <a:latin typeface="Calibri" pitchFamily="34" charset="0"/>
                <a:ea typeface="Calibri" pitchFamily="34" charset="-122"/>
                <a:cs typeface="Calibri" pitchFamily="34" charset="-120"/>
              </a:rPr>
              <a:t>Fit the assessment model only on verified-genuine candidates.</a:t>
            </a:r>
            <a:endParaRPr lang="en-US" sz="1350" dirty="0"/>
          </a:p>
          <a:p>
            <a:pPr marL="342900" indent="-342900">
              <a:spcAft>
                <a:spcPts val="800"/>
              </a:spcAft>
              <a:buSzPct val="100000"/>
              <a:buChar char="■"/>
            </a:pPr>
            <a:r>
              <a:rPr lang="en-US" sz="1350" dirty="0">
                <a:solidFill>
                  <a:srgbClr val="F2EFE6"/>
                </a:solidFill>
                <a:latin typeface="Calibri" pitchFamily="34" charset="0"/>
                <a:ea typeface="Calibri" pitchFamily="34" charset="-122"/>
                <a:cs typeface="Calibri" pitchFamily="34" charset="-120"/>
              </a:rPr>
              <a:t>Upgrade swaps: release a weak signing when the gain beats 15 credits × penalty.</a:t>
            </a:r>
            <a:endParaRPr lang="en-US" sz="1350" dirty="0"/>
          </a:p>
          <a:p>
            <a:pPr marL="342900" indent="-342900">
              <a:spcAft>
                <a:spcPts val="800"/>
              </a:spcAft>
              <a:buSzPct val="100000"/>
              <a:buChar char="■"/>
            </a:pPr>
            <a:r>
              <a:rPr lang="en-US" sz="1350" dirty="0">
                <a:solidFill>
                  <a:srgbClr val="F2EFE6"/>
                </a:solidFill>
                <a:latin typeface="Calibri" pitchFamily="34" charset="0"/>
                <a:ea typeface="Calibri" pitchFamily="34" charset="-122"/>
                <a:cs typeface="Calibri" pitchFamily="34" charset="-120"/>
              </a:rPr>
              <a:t>Use /market price pressure to prioritise contested requisitions.</a:t>
            </a:r>
            <a:endParaRPr lang="en-US" sz="1350" dirty="0"/>
          </a:p>
          <a:p>
            <a:pPr marL="342900" indent="-342900">
              <a:spcAft>
                <a:spcPts val="800"/>
              </a:spcAft>
              <a:buSzPct val="100000"/>
              <a:buChar char="■"/>
            </a:pPr>
            <a:r>
              <a:rPr lang="en-US" sz="1350" dirty="0">
                <a:solidFill>
                  <a:srgbClr val="F2EFE6"/>
                </a:solidFill>
                <a:latin typeface="Calibri" pitchFamily="34" charset="0"/>
                <a:ea typeface="Calibri" pitchFamily="34" charset="-122"/>
                <a:cs typeface="Calibri" pitchFamily="34" charset="-120"/>
              </a:rPr>
              <a:t>Record /reason spend in the local ledger (3-credit gap vs server).</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0F"/>
        </a:solidFill>
      </p:bgPr>
    </p:bg>
    <p:spTree>
      <p:nvGrpSpPr>
        <p:cNvPr id="1" name=""/>
        <p:cNvGrpSpPr/>
        <p:nvPr/>
      </p:nvGrpSpPr>
      <p:grpSpPr>
        <a:xfrm>
          <a:off x="0" y="0"/>
          <a:ext cx="0" cy="0"/>
          <a:chOff x="0" y="0"/>
          <a:chExt cx="0" cy="0"/>
        </a:xfrm>
      </p:grpSpPr>
      <p:pic>
        <p:nvPicPr>
          <p:cNvPr id="2" name="Image 0" descr="/private/tmp/claude-501/-Users-rimshachaudhary/39e555b3-5a08-4f48-ba14-96d27de05f30/scratchpad/deck/hero.png">    </p:cNvPr>
          <p:cNvPicPr>
            <a:picLocks noChangeAspect="1"/>
          </p:cNvPicPr>
          <p:nvPr/>
        </p:nvPicPr>
        <p:blipFill>
          <a:blip r:embed="rId1">
            <a:alphaModFix amt="80000"/>
          </a:blip>
          <a:stretch>
            <a:fillRect/>
          </a:stretch>
        </p:blipFill>
        <p:spPr>
          <a:xfrm>
            <a:off x="6949440" y="1463040"/>
            <a:ext cx="4937760" cy="3840480"/>
          </a:xfrm>
          <a:prstGeom prst="rect">
            <a:avLst/>
          </a:prstGeom>
        </p:spPr>
      </p:pic>
      <p:sp>
        <p:nvSpPr>
          <p:cNvPr id="3" name="Text 0"/>
          <p:cNvSpPr txBox="1"/>
          <p:nvPr/>
        </p:nvSpPr>
        <p:spPr>
          <a:xfrm>
            <a:off x="640080" y="1371600"/>
            <a:ext cx="6400800" cy="822960"/>
          </a:xfrm>
          <a:prstGeom prst="rect">
            <a:avLst/>
          </a:prstGeom>
          <a:noFill/>
          <a:ln/>
        </p:spPr>
        <p:txBody>
          <a:bodyPr wrap="square" lIns="0" tIns="0" rIns="0" bIns="0" rtlCol="0" anchor="ctr"/>
          <a:lstStyle/>
          <a:p>
            <a:pPr indent="0" marL="0">
              <a:buNone/>
            </a:pPr>
            <a:r>
              <a:rPr lang="en-US" sz="4800" b="1" dirty="0">
                <a:solidFill>
                  <a:srgbClr val="F2EFE6"/>
                </a:solidFill>
                <a:latin typeface="Arial" pitchFamily="34" charset="0"/>
                <a:ea typeface="Arial" pitchFamily="34" charset="-122"/>
                <a:cs typeface="Arial" pitchFamily="34" charset="-120"/>
              </a:rPr>
              <a:t>Learn cheap.</a:t>
            </a:r>
            <a:endParaRPr lang="en-US" sz="4800" dirty="0"/>
          </a:p>
        </p:txBody>
      </p:sp>
      <p:sp>
        <p:nvSpPr>
          <p:cNvPr id="4" name="Text 1"/>
          <p:cNvSpPr txBox="1"/>
          <p:nvPr/>
        </p:nvSpPr>
        <p:spPr>
          <a:xfrm>
            <a:off x="640080" y="2148840"/>
            <a:ext cx="6400800" cy="822960"/>
          </a:xfrm>
          <a:prstGeom prst="rect">
            <a:avLst/>
          </a:prstGeom>
          <a:noFill/>
          <a:ln/>
        </p:spPr>
        <p:txBody>
          <a:bodyPr wrap="square" lIns="0" tIns="0" rIns="0" bIns="0" rtlCol="0" anchor="ctr"/>
          <a:lstStyle/>
          <a:p>
            <a:pPr indent="0" marL="0">
              <a:buNone/>
            </a:pPr>
            <a:r>
              <a:rPr lang="en-US" sz="4800" b="1" dirty="0">
                <a:solidFill>
                  <a:srgbClr val="F2EFE6"/>
                </a:solidFill>
                <a:latin typeface="Arial" pitchFamily="34" charset="0"/>
                <a:ea typeface="Arial" pitchFamily="34" charset="-122"/>
                <a:cs typeface="Arial" pitchFamily="34" charset="-120"/>
              </a:rPr>
              <a:t>Verify what matters.</a:t>
            </a:r>
            <a:endParaRPr lang="en-US" sz="4800" dirty="0"/>
          </a:p>
        </p:txBody>
      </p:sp>
      <p:sp>
        <p:nvSpPr>
          <p:cNvPr id="5" name="Text 2"/>
          <p:cNvSpPr txBox="1"/>
          <p:nvPr/>
        </p:nvSpPr>
        <p:spPr>
          <a:xfrm>
            <a:off x="640080" y="2926080"/>
            <a:ext cx="6400800" cy="822960"/>
          </a:xfrm>
          <a:prstGeom prst="rect">
            <a:avLst/>
          </a:prstGeom>
          <a:noFill/>
          <a:ln/>
        </p:spPr>
        <p:txBody>
          <a:bodyPr wrap="square" lIns="0" tIns="0" rIns="0" bIns="0" rtlCol="0" anchor="ctr"/>
          <a:lstStyle/>
          <a:p>
            <a:pPr indent="0" marL="0">
              <a:buNone/>
            </a:pPr>
            <a:r>
              <a:rPr lang="en-US" sz="4800" b="1" dirty="0">
                <a:solidFill>
                  <a:srgbClr val="E0303A"/>
                </a:solidFill>
                <a:latin typeface="Arial" pitchFamily="34" charset="0"/>
                <a:ea typeface="Arial" pitchFamily="34" charset="-122"/>
                <a:cs typeface="Arial" pitchFamily="34" charset="-120"/>
              </a:rPr>
              <a:t>Sign first.</a:t>
            </a:r>
            <a:endParaRPr lang="en-US" sz="4800" dirty="0"/>
          </a:p>
        </p:txBody>
      </p:sp>
      <p:sp>
        <p:nvSpPr>
          <p:cNvPr id="6" name="Shape 3"/>
          <p:cNvSpPr/>
          <p:nvPr/>
        </p:nvSpPr>
        <p:spPr>
          <a:xfrm>
            <a:off x="640080" y="4206240"/>
            <a:ext cx="1965960" cy="1188720"/>
          </a:xfrm>
          <a:prstGeom prst="roundRect">
            <a:avLst>
              <a:gd name="adj" fmla="val 9231"/>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7" name="Text 4"/>
          <p:cNvSpPr txBox="1"/>
          <p:nvPr/>
        </p:nvSpPr>
        <p:spPr>
          <a:xfrm>
            <a:off x="777240" y="4297680"/>
            <a:ext cx="1737360" cy="594360"/>
          </a:xfrm>
          <a:prstGeom prst="rect">
            <a:avLst/>
          </a:prstGeom>
          <a:noFill/>
          <a:ln/>
        </p:spPr>
        <p:txBody>
          <a:bodyPr wrap="square" lIns="0" tIns="0" rIns="0" bIns="0" rtlCol="0" anchor="ctr"/>
          <a:lstStyle/>
          <a:p>
            <a:pPr indent="0" marL="0">
              <a:buNone/>
            </a:pPr>
            <a:r>
              <a:rPr lang="en-US" sz="2600" b="1" dirty="0">
                <a:solidFill>
                  <a:srgbClr val="F2EFE6"/>
                </a:solidFill>
                <a:latin typeface="Arial" pitchFamily="34" charset="0"/>
                <a:ea typeface="Arial" pitchFamily="34" charset="-122"/>
                <a:cs typeface="Arial" pitchFamily="34" charset="-120"/>
              </a:rPr>
              <a:t>116/116</a:t>
            </a:r>
            <a:endParaRPr lang="en-US" sz="2600" dirty="0"/>
          </a:p>
        </p:txBody>
      </p:sp>
      <p:sp>
        <p:nvSpPr>
          <p:cNvPr id="8" name="Text 5"/>
          <p:cNvSpPr txBox="1"/>
          <p:nvPr/>
        </p:nvSpPr>
        <p:spPr>
          <a:xfrm>
            <a:off x="777240" y="4892040"/>
            <a:ext cx="1737360" cy="365760"/>
          </a:xfrm>
          <a:prstGeom prst="rect">
            <a:avLst/>
          </a:prstGeom>
          <a:noFill/>
          <a:ln/>
        </p:spPr>
        <p:txBody>
          <a:bodyPr wrap="square" lIns="0" tIns="0" rIns="0" bIns="0" rtlCol="0" anchor="ctr"/>
          <a:lstStyle/>
          <a:p>
            <a:pPr indent="0" marL="0">
              <a:buNone/>
            </a:pPr>
            <a:r>
              <a:rPr lang="en-US" sz="1300" dirty="0">
                <a:solidFill>
                  <a:srgbClr val="9A9486"/>
                </a:solidFill>
                <a:latin typeface="Calibri" pitchFamily="34" charset="0"/>
                <a:ea typeface="Calibri" pitchFamily="34" charset="-122"/>
                <a:cs typeface="Calibri" pitchFamily="34" charset="-120"/>
              </a:rPr>
              <a:t>signed</a:t>
            </a:r>
            <a:endParaRPr lang="en-US" sz="1300" dirty="0"/>
          </a:p>
        </p:txBody>
      </p:sp>
      <p:sp>
        <p:nvSpPr>
          <p:cNvPr id="9" name="Shape 6"/>
          <p:cNvSpPr/>
          <p:nvPr/>
        </p:nvSpPr>
        <p:spPr>
          <a:xfrm>
            <a:off x="2788920" y="4206240"/>
            <a:ext cx="1965960" cy="1188720"/>
          </a:xfrm>
          <a:prstGeom prst="roundRect">
            <a:avLst>
              <a:gd name="adj" fmla="val 9231"/>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0" name="Text 7"/>
          <p:cNvSpPr txBox="1"/>
          <p:nvPr/>
        </p:nvSpPr>
        <p:spPr>
          <a:xfrm>
            <a:off x="2926080" y="4297680"/>
            <a:ext cx="1737360" cy="594360"/>
          </a:xfrm>
          <a:prstGeom prst="rect">
            <a:avLst/>
          </a:prstGeom>
          <a:noFill/>
          <a:ln/>
        </p:spPr>
        <p:txBody>
          <a:bodyPr wrap="square" lIns="0" tIns="0" rIns="0" bIns="0" rtlCol="0" anchor="ctr"/>
          <a:lstStyle/>
          <a:p>
            <a:pPr indent="0" marL="0">
              <a:buNone/>
            </a:pPr>
            <a:r>
              <a:rPr lang="en-US" sz="2600" b="1" dirty="0">
                <a:solidFill>
                  <a:srgbClr val="F2EFE6"/>
                </a:solidFill>
                <a:latin typeface="Arial" pitchFamily="34" charset="0"/>
                <a:ea typeface="Arial" pitchFamily="34" charset="-122"/>
                <a:cs typeface="Arial" pitchFamily="34" charset="-120"/>
              </a:rPr>
              <a:t>2,494</a:t>
            </a:r>
            <a:endParaRPr lang="en-US" sz="2600" dirty="0"/>
          </a:p>
        </p:txBody>
      </p:sp>
      <p:sp>
        <p:nvSpPr>
          <p:cNvPr id="11" name="Text 8"/>
          <p:cNvSpPr txBox="1"/>
          <p:nvPr/>
        </p:nvSpPr>
        <p:spPr>
          <a:xfrm>
            <a:off x="2926080" y="4892040"/>
            <a:ext cx="1737360" cy="365760"/>
          </a:xfrm>
          <a:prstGeom prst="rect">
            <a:avLst/>
          </a:prstGeom>
          <a:noFill/>
          <a:ln/>
        </p:spPr>
        <p:txBody>
          <a:bodyPr wrap="square" lIns="0" tIns="0" rIns="0" bIns="0" rtlCol="0" anchor="ctr"/>
          <a:lstStyle/>
          <a:p>
            <a:pPr indent="0" marL="0">
              <a:buNone/>
            </a:pPr>
            <a:r>
              <a:rPr lang="en-US" sz="1300" dirty="0">
                <a:solidFill>
                  <a:srgbClr val="9A9486"/>
                </a:solidFill>
                <a:latin typeface="Calibri" pitchFamily="34" charset="0"/>
                <a:ea typeface="Calibri" pitchFamily="34" charset="-122"/>
                <a:cs typeface="Calibri" pitchFamily="34" charset="-120"/>
              </a:rPr>
              <a:t>points</a:t>
            </a:r>
            <a:endParaRPr lang="en-US" sz="1300" dirty="0"/>
          </a:p>
        </p:txBody>
      </p:sp>
      <p:sp>
        <p:nvSpPr>
          <p:cNvPr id="12" name="Shape 9"/>
          <p:cNvSpPr/>
          <p:nvPr/>
        </p:nvSpPr>
        <p:spPr>
          <a:xfrm>
            <a:off x="4937760" y="4206240"/>
            <a:ext cx="1965960" cy="1188720"/>
          </a:xfrm>
          <a:prstGeom prst="roundRect">
            <a:avLst>
              <a:gd name="adj" fmla="val 9231"/>
            </a:avLst>
          </a:prstGeom>
          <a:solidFill>
            <a:srgbClr val="1A1A20"/>
          </a:solidFill>
          <a:ln w="9525">
            <a:solidFill>
              <a:srgbClr val="34343C"/>
            </a:solidFill>
            <a:prstDash val="solid"/>
          </a:ln>
          <a:effectLst>
            <a:outerShdw sx="100000" sy="100000" kx="0" ky="0" algn="bl" rotWithShape="0" blurRad="228600" dist="76200" dir="5400000">
              <a:srgbClr val="000000">
                <a:alpha val="55000"/>
              </a:srgbClr>
            </a:outerShdw>
          </a:effectLst>
        </p:spPr>
      </p:sp>
      <p:sp>
        <p:nvSpPr>
          <p:cNvPr id="13" name="Text 10"/>
          <p:cNvSpPr txBox="1"/>
          <p:nvPr/>
        </p:nvSpPr>
        <p:spPr>
          <a:xfrm>
            <a:off x="5074920" y="4297680"/>
            <a:ext cx="1737360" cy="594360"/>
          </a:xfrm>
          <a:prstGeom prst="rect">
            <a:avLst/>
          </a:prstGeom>
          <a:noFill/>
          <a:ln/>
        </p:spPr>
        <p:txBody>
          <a:bodyPr wrap="square" lIns="0" tIns="0" rIns="0" bIns="0" rtlCol="0" anchor="ctr"/>
          <a:lstStyle/>
          <a:p>
            <a:pPr indent="0" marL="0">
              <a:buNone/>
            </a:pPr>
            <a:r>
              <a:rPr lang="en-US" sz="2600" b="1" dirty="0">
                <a:solidFill>
                  <a:srgbClr val="F2B33D"/>
                </a:solidFill>
                <a:latin typeface="Arial" pitchFamily="34" charset="0"/>
                <a:ea typeface="Arial" pitchFamily="34" charset="-122"/>
                <a:cs typeface="Arial" pitchFamily="34" charset="-120"/>
              </a:rPr>
              <a:t>1,827.3</a:t>
            </a:r>
            <a:endParaRPr lang="en-US" sz="2600" dirty="0"/>
          </a:p>
        </p:txBody>
      </p:sp>
      <p:sp>
        <p:nvSpPr>
          <p:cNvPr id="14" name="Text 11"/>
          <p:cNvSpPr txBox="1"/>
          <p:nvPr/>
        </p:nvSpPr>
        <p:spPr>
          <a:xfrm>
            <a:off x="5074920" y="4892040"/>
            <a:ext cx="1737360" cy="365760"/>
          </a:xfrm>
          <a:prstGeom prst="rect">
            <a:avLst/>
          </a:prstGeom>
          <a:noFill/>
          <a:ln/>
        </p:spPr>
        <p:txBody>
          <a:bodyPr wrap="square" lIns="0" tIns="0" rIns="0" bIns="0" rtlCol="0" anchor="ctr"/>
          <a:lstStyle/>
          <a:p>
            <a:pPr indent="0" marL="0">
              <a:buNone/>
            </a:pPr>
            <a:r>
              <a:rPr lang="en-US" sz="1300" dirty="0">
                <a:solidFill>
                  <a:srgbClr val="9A9486"/>
                </a:solidFill>
                <a:latin typeface="Calibri" pitchFamily="34" charset="0"/>
                <a:ea typeface="Calibri" pitchFamily="34" charset="-122"/>
                <a:cs typeface="Calibri" pitchFamily="34" charset="-120"/>
              </a:rPr>
              <a:t>score</a:t>
            </a:r>
            <a:endParaRPr lang="en-US" sz="1300" dirty="0"/>
          </a:p>
        </p:txBody>
      </p:sp>
      <p:sp>
        <p:nvSpPr>
          <p:cNvPr id="15" name="Text 12"/>
          <p:cNvSpPr txBox="1"/>
          <p:nvPr/>
        </p:nvSpPr>
        <p:spPr>
          <a:xfrm>
            <a:off x="640080" y="5852160"/>
            <a:ext cx="10058400" cy="365760"/>
          </a:xfrm>
          <a:prstGeom prst="rect">
            <a:avLst/>
          </a:prstGeom>
          <a:noFill/>
          <a:ln/>
        </p:spPr>
        <p:txBody>
          <a:bodyPr wrap="square" lIns="0" tIns="0" rIns="0" bIns="0" rtlCol="0" anchor="ctr"/>
          <a:lstStyle/>
          <a:p>
            <a:pPr indent="0" marL="0">
              <a:buNone/>
            </a:pPr>
            <a:r>
              <a:rPr lang="en-US" sz="1500" dirty="0">
                <a:solidFill>
                  <a:srgbClr val="9A9486"/>
                </a:solidFill>
                <a:latin typeface="Calibri" pitchFamily="34" charset="0"/>
                <a:ea typeface="Calibri" pitchFamily="34" charset="-122"/>
                <a:cs typeface="Calibri" pitchFamily="34" charset="-120"/>
              </a:rPr>
              <a:t>Thank you  ·  team confused_devs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Arena - confused_devs</dc:title>
  <dc:subject>PptxGenJS Presentation</dc:subject>
  <dc:creator>confused_devs</dc:creator>
  <cp:lastModifiedBy>confused_devs</cp:lastModifiedBy>
  <cp:revision>1</cp:revision>
  <dcterms:created xsi:type="dcterms:W3CDTF">2026-09-28T19:50:34Z</dcterms:created>
  <dcterms:modified xsi:type="dcterms:W3CDTF">2026-09-28T19:50:34Z</dcterms:modified>
</cp:coreProperties>
</file>